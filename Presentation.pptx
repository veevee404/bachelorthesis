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88" r:id="rId6"/>
    <p:sldId id="289" r:id="rId7"/>
    <p:sldId id="290" r:id="rId8"/>
    <p:sldId id="260" r:id="rId9"/>
    <p:sldId id="261" r:id="rId10"/>
    <p:sldId id="263" r:id="rId11"/>
    <p:sldId id="264" r:id="rId12"/>
    <p:sldId id="265" r:id="rId13"/>
    <p:sldId id="266" r:id="rId14"/>
    <p:sldId id="304" r:id="rId15"/>
    <p:sldId id="268" r:id="rId16"/>
    <p:sldId id="269" r:id="rId17"/>
    <p:sldId id="270" r:id="rId18"/>
    <p:sldId id="292" r:id="rId19"/>
    <p:sldId id="294" r:id="rId20"/>
    <p:sldId id="298" r:id="rId21"/>
    <p:sldId id="299" r:id="rId22"/>
    <p:sldId id="300" r:id="rId23"/>
    <p:sldId id="305" r:id="rId24"/>
    <p:sldId id="301" r:id="rId25"/>
    <p:sldId id="303" r:id="rId26"/>
    <p:sldId id="307" r:id="rId27"/>
    <p:sldId id="306" r:id="rId28"/>
    <p:sldId id="273" r:id="rId29"/>
    <p:sldId id="274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A3A"/>
    <a:srgbClr val="F8E9E6"/>
    <a:srgbClr val="A8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A6B9D-B555-4BB6-98DD-0CE510E979C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66D00-6842-4E25-91ED-4234199649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07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73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594360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000" b="1">
                <a:solidFill>
                  <a:srgbClr val="4B5563"/>
                </a:solidFill>
                <a:latin typeface="Aptos"/>
              </a:defRPr>
            </a:pPr>
            <a:r>
              <a:t>University of Salzburg · Bachelor Thesis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97126"/>
            <a:ext cx="8412480" cy="12344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Aptos Display"/>
              </a:defRPr>
            </a:pPr>
            <a:r>
              <a:rPr dirty="0"/>
              <a:t>Benchmarking Large Language Models on Algorithmic Programming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96000"/>
            <a:ext cx="768096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Aptos"/>
              </a:defRPr>
            </a:pPr>
            <a:r>
              <a:rPr dirty="0"/>
              <a:t>A case study using Advent of Code with Python and 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343400"/>
            <a:ext cx="4754880" cy="3017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Aptos"/>
              </a:defRPr>
            </a:pPr>
            <a:r>
              <a:t>Vanessa Kobler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718304"/>
            <a:ext cx="53035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250" b="0">
                <a:solidFill>
                  <a:srgbClr val="4B5563"/>
                </a:solidFill>
                <a:latin typeface="Aptos"/>
              </a:defRPr>
            </a:pPr>
            <a:r>
              <a:t>Supervisor: Univ.-Prof. Dr. Wolfgang Pree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010912"/>
            <a:ext cx="53035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250" b="0">
                <a:solidFill>
                  <a:srgbClr val="4B5563"/>
                </a:solidFill>
                <a:latin typeface="Aptos"/>
              </a:defRPr>
            </a:pPr>
            <a:r>
              <a:t>Degree Program: Computer Science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19" y="414040"/>
            <a:ext cx="1787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rPr lang="en-GB" sz="2800" dirty="0"/>
              <a:t>Agenda</a:t>
            </a:r>
            <a:endParaRPr sz="3200" dirty="0"/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00200"/>
            <a:ext cx="438912" cy="438912"/>
          </a:xfrm>
          <a:prstGeom prst="ellipse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438912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55064"/>
            <a:ext cx="90525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Motivation &amp; research question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377440"/>
            <a:ext cx="438912" cy="438912"/>
          </a:xfrm>
          <a:prstGeom prst="ellipse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478024"/>
            <a:ext cx="438912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432304"/>
            <a:ext cx="90525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Benchmark design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54680"/>
            <a:ext cx="438912" cy="438912"/>
          </a:xfrm>
          <a:prstGeom prst="ellipse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438912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209544"/>
            <a:ext cx="90525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Implementation &amp; evaluation metrics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931920"/>
            <a:ext cx="438912" cy="438912"/>
          </a:xfrm>
          <a:prstGeom prst="ellipse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032504"/>
            <a:ext cx="438912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986783"/>
            <a:ext cx="90525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Results: correctness, runtime, memory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709160"/>
            <a:ext cx="438912" cy="438912"/>
          </a:xfrm>
          <a:prstGeom prst="ellipse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809744"/>
            <a:ext cx="438912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764024"/>
            <a:ext cx="90525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Discussion, limitations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8592"/>
            <a:ext cx="18023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rPr sz="2800" dirty="0"/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29549"/>
            <a:ext cx="51928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Why benchmark LLM-generated code on full programming tasks?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457" y="2249581"/>
            <a:ext cx="3337560" cy="2498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297" y="2249581"/>
            <a:ext cx="132694" cy="2637727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9662" y="2506147"/>
            <a:ext cx="3200400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rPr sz="1600" dirty="0"/>
              <a:t>LLMs are widely used for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670" y="3015460"/>
            <a:ext cx="3032006" cy="113261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Large language models are increasingly more to generate, explain, refactor, and debug code, which makes them important tools in software development.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1897" y="2249581"/>
            <a:ext cx="3520440" cy="2498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1897" y="2249581"/>
            <a:ext cx="118872" cy="2637727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9369" y="2503612"/>
            <a:ext cx="3200400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rPr sz="1600" dirty="0"/>
              <a:t>Algorithmic tasks are demanding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3649" y="3123182"/>
            <a:ext cx="3200400" cy="9171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The model must parse a natural-language problem, infer the algorithm, implement it, and handle the full input correctly.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0937" y="2249581"/>
            <a:ext cx="3474720" cy="2498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flipH="1">
            <a:off x="7912065" y="2249581"/>
            <a:ext cx="118872" cy="2637727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484825"/>
            <a:ext cx="3200400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rPr sz="1600" dirty="0"/>
              <a:t>Language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297" y="3040109"/>
            <a:ext cx="3200400" cy="9171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Python and Rust differ strongly in typing, compilation, runtime behavior and memory profile, so generated solutions may differ.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07899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Research 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33271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6800" y="2267712"/>
            <a:ext cx="10058400" cy="134806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rPr dirty="0"/>
              <a:t>How effectively can large language models solve algorithmic programming tasks from Advent of Code and how do their generated solutions differ between Python and Rust?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A73886-9525-BD8D-C764-EE73E0FCBA6B}"/>
              </a:ext>
            </a:extLst>
          </p:cNvPr>
          <p:cNvSpPr txBox="1"/>
          <p:nvPr/>
        </p:nvSpPr>
        <p:spPr>
          <a:xfrm>
            <a:off x="226336" y="1551739"/>
            <a:ext cx="3005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Main research question: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37758F-1D2F-A4AF-C81F-1EDE08B4F8EE}"/>
              </a:ext>
            </a:extLst>
          </p:cNvPr>
          <p:cNvSpPr txBox="1"/>
          <p:nvPr/>
        </p:nvSpPr>
        <p:spPr>
          <a:xfrm>
            <a:off x="362139" y="4191754"/>
            <a:ext cx="2706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Sub-questions compare: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FADCBC-ACEC-520A-6B9C-FA434287635F}"/>
              </a:ext>
            </a:extLst>
          </p:cNvPr>
          <p:cNvSpPr/>
          <p:nvPr/>
        </p:nvSpPr>
        <p:spPr>
          <a:xfrm>
            <a:off x="879392" y="5030993"/>
            <a:ext cx="1597031" cy="553060"/>
          </a:xfrm>
          <a:prstGeom prst="round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Correctness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83CC6CF-282D-9615-C7E4-B72AA66D3577}"/>
              </a:ext>
            </a:extLst>
          </p:cNvPr>
          <p:cNvSpPr/>
          <p:nvPr/>
        </p:nvSpPr>
        <p:spPr>
          <a:xfrm>
            <a:off x="2993679" y="5030993"/>
            <a:ext cx="1597031" cy="553060"/>
          </a:xfrm>
          <a:prstGeom prst="round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Runtime</a:t>
            </a:r>
            <a:endParaRPr lang="en-GB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658F1E0-5BC1-654B-162A-8293EE9C9ECF}"/>
              </a:ext>
            </a:extLst>
          </p:cNvPr>
          <p:cNvSpPr/>
          <p:nvPr/>
        </p:nvSpPr>
        <p:spPr>
          <a:xfrm>
            <a:off x="5297484" y="5030993"/>
            <a:ext cx="1597031" cy="553060"/>
          </a:xfrm>
          <a:prstGeom prst="round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Memory</a:t>
            </a:r>
            <a:endParaRPr lang="en-GB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F01F9DB-FD8B-0463-4369-C21D3F353353}"/>
              </a:ext>
            </a:extLst>
          </p:cNvPr>
          <p:cNvSpPr/>
          <p:nvPr/>
        </p:nvSpPr>
        <p:spPr>
          <a:xfrm>
            <a:off x="7506530" y="5040029"/>
            <a:ext cx="1597031" cy="553060"/>
          </a:xfrm>
          <a:prstGeom prst="round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Algorithms</a:t>
            </a:r>
            <a:endParaRPr lang="en-GB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86C8EFB-E9F3-39EB-0933-C52B7CFFAD25}"/>
              </a:ext>
            </a:extLst>
          </p:cNvPr>
          <p:cNvSpPr/>
          <p:nvPr/>
        </p:nvSpPr>
        <p:spPr>
          <a:xfrm>
            <a:off x="9715576" y="5030070"/>
            <a:ext cx="1597031" cy="553060"/>
          </a:xfrm>
          <a:prstGeom prst="round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Code Quality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20624"/>
            <a:ext cx="97840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Advent of Code as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784" y="1367786"/>
            <a:ext cx="10515600" cy="27084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Why these tasks are useful for evaluating algorithmic code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750" b="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1120"/>
            <a:ext cx="3429000" cy="28623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70560" y="2191120"/>
            <a:ext cx="88392" cy="289991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2380700"/>
            <a:ext cx="3154680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rPr sz="1600" dirty="0"/>
              <a:t>Full-program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14251"/>
            <a:ext cx="3538728" cy="13170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120" b="0">
                <a:solidFill>
                  <a:srgbClr val="4B5563"/>
                </a:solidFill>
                <a:latin typeface="Aptos"/>
              </a:defRPr>
            </a:pPr>
            <a:r>
              <a:rPr lang="en-GB" sz="1400" dirty="0"/>
              <a:t>Understanding  a natural language problem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120" b="0">
                <a:solidFill>
                  <a:srgbClr val="4B5563"/>
                </a:solidFill>
                <a:latin typeface="Aptos"/>
              </a:defRPr>
            </a:pPr>
            <a:r>
              <a:rPr lang="en-GB" sz="1400" dirty="0"/>
              <a:t>Reading Input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120" b="0">
                <a:solidFill>
                  <a:srgbClr val="4B5563"/>
                </a:solidFill>
                <a:latin typeface="Aptos"/>
              </a:defRPr>
            </a:pPr>
            <a:r>
              <a:rPr lang="en-GB" sz="1400" dirty="0"/>
              <a:t>producing a complete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1120"/>
            <a:ext cx="3429000" cy="28999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2356" y="2191120"/>
            <a:ext cx="89916" cy="289991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417532"/>
            <a:ext cx="3154680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rPr sz="1600" dirty="0"/>
              <a:t>Two-part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56732"/>
            <a:ext cx="3136392" cy="70173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Part B usually extends Part A with harder constraints or a changed solution 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35301"/>
            <a:ext cx="3429000" cy="29182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5676" y="2191120"/>
            <a:ext cx="89916" cy="289991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2392419"/>
            <a:ext cx="3154680" cy="3016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rPr sz="1600" dirty="0"/>
              <a:t>Algorithmic variety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4040"/>
            <a:ext cx="3136392" cy="228652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50000"/>
              </a:lnSpc>
              <a:defRPr sz="112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The selected tasks cover</a:t>
            </a:r>
            <a:r>
              <a:rPr lang="en-GB" sz="1400" dirty="0"/>
              <a:t>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12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parsing</a:t>
            </a:r>
            <a:endParaRPr lang="en-GB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12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simulation</a:t>
            </a:r>
            <a:endParaRPr lang="en-GB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12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graph/search logic</a:t>
            </a:r>
            <a:endParaRPr lang="en-GB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120" b="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 state tracking</a:t>
            </a:r>
            <a:endParaRPr lang="en-GB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120" b="0">
                <a:solidFill>
                  <a:srgbClr val="4B5563"/>
                </a:solidFill>
                <a:latin typeface="Aptos"/>
              </a:defRPr>
            </a:pPr>
            <a:r>
              <a:rPr lang="en-GB" sz="1400" dirty="0"/>
              <a:t>Arithmetic and </a:t>
            </a:r>
            <a:r>
              <a:rPr sz="1400" dirty="0"/>
              <a:t>optimization-style reasoning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Large language models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5156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Two CLI-based code-generation systems are compared under the same prompt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750" b="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1663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73152" cy="3246120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18488"/>
            <a:ext cx="489204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OpenAI 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4873752" cy="2651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Used through the Codex CLI version recorded in the thesis. It generated complete Python and Rust programs from the standardized prompt without additional model-specific hints.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3246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618488"/>
            <a:ext cx="489204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Anthropic 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11680"/>
            <a:ext cx="4873752" cy="2651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Used through the Claude Code CLI version recorded in the thesis. It was evaluated with the same tasks, inputs, repair rule and measurement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1498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Aptos"/>
              </a:defRPr>
            </a:pPr>
            <a:r>
              <a:t>Important for fairness: the prompt template stayed fixed; only the problem statement, input path, output file and target language changed.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715000"/>
            <a:ext cx="1828800" cy="384048"/>
          </a:xfrm>
          <a:prstGeom prst="round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5769864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same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5715000"/>
            <a:ext cx="1828800" cy="384048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7639" y="5769864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same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715000"/>
            <a:ext cx="1828800" cy="384048"/>
          </a:xfrm>
          <a:prstGeom prst="round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5769864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same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5715000"/>
            <a:ext cx="182880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5769864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same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Programming languages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5156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Python and Rust expose different strengths and constraints for generated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750" b="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73152" cy="44805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572768"/>
            <a:ext cx="49377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rPr dirty="0"/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4919472" cy="3886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High-level and dynamically typed. It is usually concise and easier to generate, but interpreted execution leads to higher runtime and memory usage in this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700"/>
              </a:spcAft>
              <a:defRPr sz="1300">
                <a:solidFill>
                  <a:srgbClr val="4B5563"/>
                </a:solidFill>
                <a:latin typeface="Aptos"/>
              </a:defRPr>
            </a:pPr>
            <a:r>
              <a:t>Flexible built-in data structures</a:t>
            </a:r>
          </a:p>
          <a:p>
            <a:pPr marL="342900" indent="-171450">
              <a:spcAft>
                <a:spcPts val="700"/>
              </a:spcAft>
              <a:defRPr sz="1300">
                <a:solidFill>
                  <a:srgbClr val="4B5563"/>
                </a:solidFill>
                <a:latin typeface="Aptos"/>
              </a:defRPr>
            </a:pPr>
            <a:r>
              <a:t>No compile step for syntax/type checking</a:t>
            </a:r>
          </a:p>
          <a:p>
            <a:pPr marL="342900" indent="-171450">
              <a:spcAft>
                <a:spcPts val="700"/>
              </a:spcAft>
              <a:defRPr sz="1300">
                <a:solidFill>
                  <a:srgbClr val="4B5563"/>
                </a:solidFill>
                <a:latin typeface="Aptos"/>
              </a:defRPr>
            </a:pPr>
            <a:r>
              <a:t>Useful for rapid algorithm expression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73152" cy="44805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72768"/>
            <a:ext cx="49377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4919472" cy="3886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Compiled and statically typed. It requires ownership, borrowing, mutability and type correctness, but usually produces much lower runtime and memory measurements.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700"/>
              </a:spcAft>
              <a:defRPr sz="1300">
                <a:solidFill>
                  <a:srgbClr val="4B5563"/>
                </a:solidFill>
                <a:latin typeface="Aptos"/>
              </a:defRPr>
            </a:pPr>
            <a:r>
              <a:t>Stronger compiler constraints</a:t>
            </a:r>
          </a:p>
          <a:p>
            <a:pPr marL="342900" indent="-171450">
              <a:spcAft>
                <a:spcPts val="700"/>
              </a:spcAft>
              <a:defRPr sz="1300">
                <a:solidFill>
                  <a:srgbClr val="4B5563"/>
                </a:solidFill>
                <a:latin typeface="Aptos"/>
              </a:defRPr>
            </a:pPr>
            <a:r>
              <a:t>Lower memory footprint in the results</a:t>
            </a:r>
          </a:p>
          <a:p>
            <a:pPr marL="342900" indent="-171450">
              <a:spcAft>
                <a:spcPts val="700"/>
              </a:spcAft>
              <a:defRPr sz="1300">
                <a:solidFill>
                  <a:srgbClr val="4B5563"/>
                </a:solidFill>
                <a:latin typeface="Aptos"/>
              </a:defRPr>
            </a:pPr>
            <a:r>
              <a:t>More sensitive to language-specific idioms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Benchmark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3"/>
                </a:solidFill>
                <a:latin typeface="Aptos"/>
              </a:defRPr>
            </a:pPr>
            <a:r>
              <a:t>Same tasks, same prompt structure, two models, two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19659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73351"/>
            <a:ext cx="1819656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A8262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76272"/>
            <a:ext cx="181965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508760"/>
            <a:ext cx="19659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1673351"/>
            <a:ext cx="1819656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1F77B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176272"/>
            <a:ext cx="181965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  <a:latin typeface="Aptos"/>
              </a:defRPr>
            </a:pPr>
            <a:r>
              <a:t>languages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508760"/>
            <a:ext cx="19659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2" y="1673351"/>
            <a:ext cx="1819656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FF7F0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176272"/>
            <a:ext cx="181965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  <a:latin typeface="Aptos"/>
              </a:defRPr>
            </a:pPr>
            <a:r>
              <a:t>AoC problems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508760"/>
            <a:ext cx="19659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71231" y="1673351"/>
            <a:ext cx="1819656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A82626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176272"/>
            <a:ext cx="181965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  <a:latin typeface="Aptos"/>
              </a:defRPr>
            </a:pPr>
            <a:r>
              <a:t>final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508760"/>
            <a:ext cx="19659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11512" y="1673351"/>
            <a:ext cx="1819656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1F77B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2176272"/>
            <a:ext cx="181965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  <a:latin typeface="Aptos"/>
              </a:defRPr>
            </a:pPr>
            <a:r>
              <a:t>repair attempt allowed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063240"/>
            <a:ext cx="4937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Aptos"/>
              </a:defRPr>
            </a:pPr>
            <a:r>
              <a:t>Independent 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5204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Model: OpenAI Codex vs. Claude Code</a:t>
            </a:r>
          </a:p>
          <a:p>
            <a:pPr marL="342900" indent="-171450"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Language: Python vs. Rust</a:t>
            </a:r>
          </a:p>
          <a:p>
            <a:pPr marL="342900" indent="-171450"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Problem year and part: 2024/2025, A/B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63240"/>
            <a:ext cx="4937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Aptos"/>
              </a:defRPr>
            </a:pPr>
            <a:r>
              <a:t>Dependent variables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Correctness and compilation</a:t>
            </a:r>
          </a:p>
          <a:p>
            <a:pPr marL="342900" indent="-171450"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Runtime and memory usage</a:t>
            </a:r>
          </a:p>
          <a:p>
            <a:pPr marL="342900" indent="-171450"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Lines of code and algorithmic/code-quality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3"/>
                </a:solidFill>
                <a:latin typeface="Aptos"/>
              </a:defRPr>
            </a:pPr>
            <a:r>
              <a:t>How each generated solution was evaluated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73152" cy="1234440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709928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1. Submit standardized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73152" cy="12344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09928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2. Save raw generated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60020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600200"/>
            <a:ext cx="73152" cy="12344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709928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3. Compile when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73152" cy="1234440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538728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4. Run on fixed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42900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429000"/>
            <a:ext cx="73152" cy="12344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3538728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5. Measure runtime and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342900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3880" y="3429000"/>
            <a:ext cx="73152" cy="12344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2" y="3538728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6. Compare exact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6070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350" b="0">
                <a:solidFill>
                  <a:srgbClr val="4B5563"/>
                </a:solidFill>
                <a:latin typeface="Aptos"/>
              </a:defRPr>
            </a:pPr>
            <a:r>
              <a:t>Failure rules: compile fail, runtime error, timeout, wrong output, or incorrect output format are treated as failures.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33272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3268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700" b="0">
                <a:solidFill>
                  <a:srgbClr val="D3D8E0"/>
                </a:solidFill>
                <a:latin typeface="Aptos"/>
              </a:defRPr>
            </a:pPr>
            <a:r>
              <a:t>Correctness, runtime and memory usage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Correctness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3"/>
                </a:solidFill>
                <a:latin typeface="Aptos"/>
              </a:defRPr>
            </a:pPr>
            <a:r>
              <a:t>All generated solutions were correct on the first attempt in the tested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600200"/>
            <a:ext cx="283464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764792"/>
            <a:ext cx="2688336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A8262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67712"/>
            <a:ext cx="268833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  <a:latin typeface="Aptos"/>
              </a:defRPr>
            </a:pPr>
            <a:r>
              <a:t>first-attempt correctness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00200"/>
            <a:ext cx="283464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1764792"/>
            <a:ext cx="2688336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1F77B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267712"/>
            <a:ext cx="268833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  <a:latin typeface="Aptos"/>
              </a:defRPr>
            </a:pPr>
            <a:r>
              <a:t>repair prompts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283464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764792"/>
            <a:ext cx="2688336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FF7F0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267712"/>
            <a:ext cx="2688336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4B5563"/>
                </a:solidFill>
                <a:latin typeface="Aptos"/>
              </a:defRPr>
            </a:pPr>
            <a:r>
              <a:t>compile/runtime failures in final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987552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200" b="1">
                <a:solidFill>
                  <a:srgbClr val="1F2937"/>
                </a:solidFill>
                <a:latin typeface="Aptos"/>
              </a:defRPr>
            </a:pPr>
            <a:r>
              <a:t>The central difference between models and languages therefore appears mainly in efficiency and code characteristics, not in functional correctness for the selected tasks.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6593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rPr dirty="0"/>
              <a:t>Runtime comparison across all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093" y="1386054"/>
            <a:ext cx="74944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Python shows stronger variation; Rust is generally tightly clustered around the baseline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5" y="6547104"/>
            <a:ext cx="12191695" cy="4571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093" y="6592823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rPr dirty="0"/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705" y="6611111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8138" t="11072" r="8035"/>
          <a:stretch>
            <a:fillRect/>
          </a:stretch>
        </p:blipFill>
        <p:spPr>
          <a:xfrm>
            <a:off x="203881" y="2621839"/>
            <a:ext cx="5817303" cy="25938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8954" t="12147" r="7678"/>
          <a:stretch>
            <a:fillRect/>
          </a:stretch>
        </p:blipFill>
        <p:spPr>
          <a:xfrm>
            <a:off x="6021184" y="2638313"/>
            <a:ext cx="5954859" cy="26456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E8B777-4304-62A2-5C91-6DCECF5B3324}"/>
              </a:ext>
            </a:extLst>
          </p:cNvPr>
          <p:cNvSpPr txBox="1"/>
          <p:nvPr/>
        </p:nvSpPr>
        <p:spPr>
          <a:xfrm>
            <a:off x="1806068" y="2022943"/>
            <a:ext cx="302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 (app. 40 – 330 </a:t>
            </a:r>
            <a:r>
              <a:rPr lang="en-GB" dirty="0" err="1"/>
              <a:t>ms</a:t>
            </a:r>
            <a:r>
              <a:rPr lang="en-GB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53FEA-50C7-1070-4032-8B7FD8A98833}"/>
              </a:ext>
            </a:extLst>
          </p:cNvPr>
          <p:cNvSpPr txBox="1"/>
          <p:nvPr/>
        </p:nvSpPr>
        <p:spPr>
          <a:xfrm>
            <a:off x="7526917" y="2044817"/>
            <a:ext cx="307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Rust (app. 12 – 22 </a:t>
            </a:r>
            <a:r>
              <a:rPr lang="en-GB" dirty="0" err="1"/>
              <a:t>ms</a:t>
            </a:r>
            <a:r>
              <a:rPr lang="en-GB" dirty="0"/>
              <a:t>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F42891-C722-1BFA-A53B-53A19D5933F4}"/>
              </a:ext>
            </a:extLst>
          </p:cNvPr>
          <p:cNvCxnSpPr>
            <a:cxnSpLocks/>
          </p:cNvCxnSpPr>
          <p:nvPr/>
        </p:nvCxnSpPr>
        <p:spPr>
          <a:xfrm>
            <a:off x="1171771" y="2242137"/>
            <a:ext cx="253497" cy="43456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9ECFD5-C89E-85ED-6F42-D8D8A6432BCF}"/>
              </a:ext>
            </a:extLst>
          </p:cNvPr>
          <p:cNvCxnSpPr>
            <a:cxnSpLocks/>
          </p:cNvCxnSpPr>
          <p:nvPr/>
        </p:nvCxnSpPr>
        <p:spPr>
          <a:xfrm flipH="1">
            <a:off x="2383729" y="3756199"/>
            <a:ext cx="385073" cy="54897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3793C3-C180-35A5-E752-8D8B78788382}"/>
              </a:ext>
            </a:extLst>
          </p:cNvPr>
          <p:cNvCxnSpPr>
            <a:cxnSpLocks/>
          </p:cNvCxnSpPr>
          <p:nvPr/>
        </p:nvCxnSpPr>
        <p:spPr>
          <a:xfrm>
            <a:off x="4029175" y="3792294"/>
            <a:ext cx="0" cy="51288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209B0E-AF0F-7696-CA6E-F0C1CF3E76D0}"/>
              </a:ext>
            </a:extLst>
          </p:cNvPr>
          <p:cNvCxnSpPr>
            <a:cxnSpLocks/>
          </p:cNvCxnSpPr>
          <p:nvPr/>
        </p:nvCxnSpPr>
        <p:spPr>
          <a:xfrm>
            <a:off x="4960173" y="3431813"/>
            <a:ext cx="0" cy="512881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8BA782-6D21-6E23-454C-823483C8E490}"/>
              </a:ext>
            </a:extLst>
          </p:cNvPr>
          <p:cNvCxnSpPr>
            <a:cxnSpLocks/>
          </p:cNvCxnSpPr>
          <p:nvPr/>
        </p:nvCxnSpPr>
        <p:spPr>
          <a:xfrm>
            <a:off x="6990121" y="3688253"/>
            <a:ext cx="253497" cy="43456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983DC4-D1DF-2848-BF4E-4F268F3AEC04}"/>
              </a:ext>
            </a:extLst>
          </p:cNvPr>
          <p:cNvCxnSpPr>
            <a:cxnSpLocks/>
          </p:cNvCxnSpPr>
          <p:nvPr/>
        </p:nvCxnSpPr>
        <p:spPr>
          <a:xfrm flipH="1">
            <a:off x="8230352" y="3665665"/>
            <a:ext cx="11523" cy="43456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A0A459-1AF5-E879-EEB8-6C39C1D496D8}"/>
              </a:ext>
            </a:extLst>
          </p:cNvPr>
          <p:cNvCxnSpPr>
            <a:cxnSpLocks/>
          </p:cNvCxnSpPr>
          <p:nvPr/>
        </p:nvCxnSpPr>
        <p:spPr>
          <a:xfrm flipH="1">
            <a:off x="8976898" y="3870609"/>
            <a:ext cx="168133" cy="43456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AA6BE8E-93AB-BB61-499B-A81FA523CBCD}"/>
              </a:ext>
            </a:extLst>
          </p:cNvPr>
          <p:cNvCxnSpPr>
            <a:cxnSpLocks/>
          </p:cNvCxnSpPr>
          <p:nvPr/>
        </p:nvCxnSpPr>
        <p:spPr>
          <a:xfrm>
            <a:off x="10398384" y="2022943"/>
            <a:ext cx="425513" cy="6537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77C983-ED5E-A638-C92F-C35E6369E55E}"/>
              </a:ext>
            </a:extLst>
          </p:cNvPr>
          <p:cNvCxnSpPr/>
          <p:nvPr/>
        </p:nvCxnSpPr>
        <p:spPr>
          <a:xfrm>
            <a:off x="4960173" y="3353498"/>
            <a:ext cx="0" cy="438796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86C6A75-24BD-79ED-506F-0B995BFADE39}"/>
              </a:ext>
            </a:extLst>
          </p:cNvPr>
          <p:cNvCxnSpPr>
            <a:cxnSpLocks/>
          </p:cNvCxnSpPr>
          <p:nvPr/>
        </p:nvCxnSpPr>
        <p:spPr>
          <a:xfrm>
            <a:off x="746070" y="5538918"/>
            <a:ext cx="4953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5C82C9E-EA4D-1C40-1226-1D1A9989BA99}"/>
              </a:ext>
            </a:extLst>
          </p:cNvPr>
          <p:cNvCxnSpPr/>
          <p:nvPr/>
        </p:nvCxnSpPr>
        <p:spPr>
          <a:xfrm>
            <a:off x="734640" y="5411918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E0A74B3-C45F-2BD5-89BB-8DBB1243DDF7}"/>
              </a:ext>
            </a:extLst>
          </p:cNvPr>
          <p:cNvCxnSpPr/>
          <p:nvPr/>
        </p:nvCxnSpPr>
        <p:spPr>
          <a:xfrm>
            <a:off x="5718183" y="5411918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9416267-3B32-8861-C8F9-1DE81F270A15}"/>
              </a:ext>
            </a:extLst>
          </p:cNvPr>
          <p:cNvCxnSpPr>
            <a:cxnSpLocks/>
          </p:cNvCxnSpPr>
          <p:nvPr/>
        </p:nvCxnSpPr>
        <p:spPr>
          <a:xfrm>
            <a:off x="2052900" y="5411918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29D4F02-5106-0D57-DD99-6020A4CA8C1D}"/>
              </a:ext>
            </a:extLst>
          </p:cNvPr>
          <p:cNvCxnSpPr>
            <a:cxnSpLocks/>
          </p:cNvCxnSpPr>
          <p:nvPr/>
        </p:nvCxnSpPr>
        <p:spPr>
          <a:xfrm>
            <a:off x="3449900" y="5411918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87F2D4D-90C8-8A4B-6B0F-5D0FEF83ADFF}"/>
              </a:ext>
            </a:extLst>
          </p:cNvPr>
          <p:cNvCxnSpPr>
            <a:cxnSpLocks/>
          </p:cNvCxnSpPr>
          <p:nvPr/>
        </p:nvCxnSpPr>
        <p:spPr>
          <a:xfrm>
            <a:off x="4605600" y="5411918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87BC04A-8093-5E43-A540-B0DCB8A1B624}"/>
              </a:ext>
            </a:extLst>
          </p:cNvPr>
          <p:cNvCxnSpPr>
            <a:cxnSpLocks/>
          </p:cNvCxnSpPr>
          <p:nvPr/>
        </p:nvCxnSpPr>
        <p:spPr>
          <a:xfrm>
            <a:off x="6560187" y="5538114"/>
            <a:ext cx="4953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B919DFD-B292-F2BB-3BA4-7FCF53EA74F1}"/>
              </a:ext>
            </a:extLst>
          </p:cNvPr>
          <p:cNvCxnSpPr/>
          <p:nvPr/>
        </p:nvCxnSpPr>
        <p:spPr>
          <a:xfrm>
            <a:off x="6548757" y="541111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58E7EF8-2F91-8E88-E5DD-04898D1BCE80}"/>
              </a:ext>
            </a:extLst>
          </p:cNvPr>
          <p:cNvCxnSpPr/>
          <p:nvPr/>
        </p:nvCxnSpPr>
        <p:spPr>
          <a:xfrm>
            <a:off x="11513187" y="541111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11DFC8-00F2-0D42-D5A4-C31783A978C1}"/>
              </a:ext>
            </a:extLst>
          </p:cNvPr>
          <p:cNvCxnSpPr>
            <a:cxnSpLocks/>
          </p:cNvCxnSpPr>
          <p:nvPr/>
        </p:nvCxnSpPr>
        <p:spPr>
          <a:xfrm>
            <a:off x="7867017" y="541111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3F5FD72-829E-6F52-7650-D88EF8198003}"/>
              </a:ext>
            </a:extLst>
          </p:cNvPr>
          <p:cNvCxnSpPr>
            <a:cxnSpLocks/>
          </p:cNvCxnSpPr>
          <p:nvPr/>
        </p:nvCxnSpPr>
        <p:spPr>
          <a:xfrm>
            <a:off x="9264017" y="541111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266D37A-36A9-D237-4998-73866AEAE207}"/>
              </a:ext>
            </a:extLst>
          </p:cNvPr>
          <p:cNvCxnSpPr>
            <a:cxnSpLocks/>
          </p:cNvCxnSpPr>
          <p:nvPr/>
        </p:nvCxnSpPr>
        <p:spPr>
          <a:xfrm>
            <a:off x="10419717" y="541111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8DE2C66-FC9A-216F-4FBA-DF8EFD69E24A}"/>
              </a:ext>
            </a:extLst>
          </p:cNvPr>
          <p:cNvSpPr txBox="1"/>
          <p:nvPr/>
        </p:nvSpPr>
        <p:spPr>
          <a:xfrm>
            <a:off x="3570408" y="5502509"/>
            <a:ext cx="925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2024 Part 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DC1151-4907-BEAA-1193-4092B195A9C6}"/>
              </a:ext>
            </a:extLst>
          </p:cNvPr>
          <p:cNvSpPr txBox="1"/>
          <p:nvPr/>
        </p:nvSpPr>
        <p:spPr>
          <a:xfrm>
            <a:off x="2314869" y="5505044"/>
            <a:ext cx="925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2025 Part 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2B5FAC-25D8-CA97-36A2-E1AFBF9FD7B7}"/>
              </a:ext>
            </a:extLst>
          </p:cNvPr>
          <p:cNvSpPr txBox="1"/>
          <p:nvPr/>
        </p:nvSpPr>
        <p:spPr>
          <a:xfrm>
            <a:off x="940318" y="5505476"/>
            <a:ext cx="1040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2024 Part 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B8A575-D135-5358-2842-010C0BAF115F}"/>
              </a:ext>
            </a:extLst>
          </p:cNvPr>
          <p:cNvSpPr txBox="1"/>
          <p:nvPr/>
        </p:nvSpPr>
        <p:spPr>
          <a:xfrm>
            <a:off x="4715738" y="5510402"/>
            <a:ext cx="1057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2025 Part 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5658F7-573A-77B7-DD37-DB80F9B191B0}"/>
              </a:ext>
            </a:extLst>
          </p:cNvPr>
          <p:cNvSpPr txBox="1"/>
          <p:nvPr/>
        </p:nvSpPr>
        <p:spPr>
          <a:xfrm>
            <a:off x="9384525" y="5541290"/>
            <a:ext cx="925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2024 Part B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EF3029-5425-3DD4-4834-F6C8B0D8C268}"/>
              </a:ext>
            </a:extLst>
          </p:cNvPr>
          <p:cNvSpPr txBox="1"/>
          <p:nvPr/>
        </p:nvSpPr>
        <p:spPr>
          <a:xfrm>
            <a:off x="8114779" y="5527959"/>
            <a:ext cx="925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2025 Part 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68F8E5-789D-FB2E-4722-1AFE199F5024}"/>
              </a:ext>
            </a:extLst>
          </p:cNvPr>
          <p:cNvSpPr txBox="1"/>
          <p:nvPr/>
        </p:nvSpPr>
        <p:spPr>
          <a:xfrm>
            <a:off x="6790523" y="5534939"/>
            <a:ext cx="1040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2024 Part 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0F0FD5-67C5-AF16-DC55-D3BBB0B45F90}"/>
              </a:ext>
            </a:extLst>
          </p:cNvPr>
          <p:cNvSpPr txBox="1"/>
          <p:nvPr/>
        </p:nvSpPr>
        <p:spPr>
          <a:xfrm>
            <a:off x="10540528" y="5534939"/>
            <a:ext cx="1057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2025 Part B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11736E0-7B4A-23A4-6A4B-044D1AAD7BDF}"/>
              </a:ext>
            </a:extLst>
          </p:cNvPr>
          <p:cNvSpPr txBox="1"/>
          <p:nvPr/>
        </p:nvSpPr>
        <p:spPr>
          <a:xfrm>
            <a:off x="474608" y="2042082"/>
            <a:ext cx="10572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6"/>
                </a:solidFill>
              </a:rPr>
              <a:t>2024 Part A Day 13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8FDDA1-47F6-245F-379B-EE72AE38ABB6}"/>
              </a:ext>
            </a:extLst>
          </p:cNvPr>
          <p:cNvSpPr txBox="1"/>
          <p:nvPr/>
        </p:nvSpPr>
        <p:spPr>
          <a:xfrm>
            <a:off x="2494113" y="3565637"/>
            <a:ext cx="9048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1"/>
                </a:solidFill>
              </a:rPr>
              <a:t>2025 Part A Day 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9F0F7B-B74E-44EA-8CF0-3519C4265EAE}"/>
              </a:ext>
            </a:extLst>
          </p:cNvPr>
          <p:cNvSpPr txBox="1"/>
          <p:nvPr/>
        </p:nvSpPr>
        <p:spPr>
          <a:xfrm>
            <a:off x="3600089" y="3565636"/>
            <a:ext cx="9048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1"/>
                </a:solidFill>
              </a:rPr>
              <a:t>2024 Part B Day 12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C87344F-5052-6F16-BAAA-8779735463AD}"/>
              </a:ext>
            </a:extLst>
          </p:cNvPr>
          <p:cNvSpPr txBox="1"/>
          <p:nvPr/>
        </p:nvSpPr>
        <p:spPr>
          <a:xfrm>
            <a:off x="4605600" y="3177327"/>
            <a:ext cx="9048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1"/>
                </a:solidFill>
              </a:rPr>
              <a:t>2025 Part B Day 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AB864B8-F95D-AFDB-9B94-1B9B253720CC}"/>
              </a:ext>
            </a:extLst>
          </p:cNvPr>
          <p:cNvSpPr txBox="1"/>
          <p:nvPr/>
        </p:nvSpPr>
        <p:spPr>
          <a:xfrm>
            <a:off x="6629756" y="3475744"/>
            <a:ext cx="9048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6"/>
                </a:solidFill>
              </a:rPr>
              <a:t>2024 Part A Day 13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FB17FB1-9E63-501C-FFBD-5ECB98E27635}"/>
              </a:ext>
            </a:extLst>
          </p:cNvPr>
          <p:cNvSpPr txBox="1"/>
          <p:nvPr/>
        </p:nvSpPr>
        <p:spPr>
          <a:xfrm>
            <a:off x="7909271" y="3488198"/>
            <a:ext cx="9048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1"/>
                </a:solidFill>
              </a:rPr>
              <a:t>2025 Part A Day 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55B7EA1-64FC-A2A4-0664-D988A1A4D71C}"/>
              </a:ext>
            </a:extLst>
          </p:cNvPr>
          <p:cNvSpPr txBox="1"/>
          <p:nvPr/>
        </p:nvSpPr>
        <p:spPr>
          <a:xfrm>
            <a:off x="8821128" y="3683584"/>
            <a:ext cx="9048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6"/>
                </a:solidFill>
              </a:rPr>
              <a:t>2025 Part A Day 11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489F62-BAAE-5B65-8E03-F9289B4A1EB4}"/>
              </a:ext>
            </a:extLst>
          </p:cNvPr>
          <p:cNvSpPr txBox="1"/>
          <p:nvPr/>
        </p:nvSpPr>
        <p:spPr>
          <a:xfrm>
            <a:off x="10026041" y="1842027"/>
            <a:ext cx="9048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6"/>
                </a:solidFill>
              </a:rPr>
              <a:t>2025 Part B Day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65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rPr dirty="0"/>
              <a:t>Python runtime by year and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13" y="1783101"/>
            <a:ext cx="5257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A 2024</a:t>
            </a:r>
          </a:p>
        </p:txBody>
      </p:sp>
      <p:pic>
        <p:nvPicPr>
          <p:cNvPr id="9" name="Picture 8" descr="PartA2024_Python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60" y="1632226"/>
            <a:ext cx="3492000" cy="2095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99260" y="1632226"/>
            <a:ext cx="3492000" cy="209520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76849"/>
            <a:ext cx="5257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A 2025</a:t>
            </a:r>
          </a:p>
        </p:txBody>
      </p:sp>
      <p:pic>
        <p:nvPicPr>
          <p:cNvPr id="12" name="Picture 11" descr="PartA2025_Python_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699" y="1632226"/>
            <a:ext cx="3492000" cy="2095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505698" y="1632226"/>
            <a:ext cx="3491999" cy="209520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813" y="4204973"/>
            <a:ext cx="5257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B 2024</a:t>
            </a:r>
          </a:p>
        </p:txBody>
      </p:sp>
      <p:pic>
        <p:nvPicPr>
          <p:cNvPr id="15" name="Picture 14" descr="PartB2024_python_run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260" y="4153457"/>
            <a:ext cx="3492000" cy="2095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99260" y="4153457"/>
            <a:ext cx="3492000" cy="209520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200622"/>
            <a:ext cx="5257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B 2025</a:t>
            </a:r>
          </a:p>
        </p:txBody>
      </p:sp>
      <p:pic>
        <p:nvPicPr>
          <p:cNvPr id="18" name="Picture 17" descr="PartB2025_python_run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699" y="4153457"/>
            <a:ext cx="3492000" cy="20952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505699" y="4153457"/>
            <a:ext cx="3491998" cy="209520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C823-9BE6-71D8-5489-7523EE41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D84EE-803D-F176-7F27-0C533E7DDBFC}"/>
              </a:ext>
            </a:extLst>
          </p:cNvPr>
          <p:cNvSpPr txBox="1"/>
          <p:nvPr/>
        </p:nvSpPr>
        <p:spPr>
          <a:xfrm>
            <a:off x="502920" y="386540"/>
            <a:ext cx="46370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rPr lang="en-GB" dirty="0"/>
              <a:t>Rust</a:t>
            </a:r>
            <a:r>
              <a:rPr dirty="0"/>
              <a:t> runtime by year and part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DEEF43-D64A-65C1-5814-9842BFC353B2}"/>
              </a:ext>
            </a:extLst>
          </p:cNvPr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35B228-2429-14E6-3CF3-3B853533AF89}"/>
              </a:ext>
            </a:extLst>
          </p:cNvPr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8657E-9D7F-DF9A-522B-90928076EF56}"/>
              </a:ext>
            </a:extLst>
          </p:cNvPr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A8C8A-0991-A776-234C-89F7BB0C0E2C}"/>
              </a:ext>
            </a:extLst>
          </p:cNvPr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5556A0-4CD5-7E1E-6A69-4DEC95A1AF05}"/>
              </a:ext>
            </a:extLst>
          </p:cNvPr>
          <p:cNvSpPr txBox="1"/>
          <p:nvPr/>
        </p:nvSpPr>
        <p:spPr>
          <a:xfrm>
            <a:off x="643813" y="1783101"/>
            <a:ext cx="5257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A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3A6717-A79A-073E-3163-1E965D5F252C}"/>
              </a:ext>
            </a:extLst>
          </p:cNvPr>
          <p:cNvSpPr/>
          <p:nvPr/>
        </p:nvSpPr>
        <p:spPr>
          <a:xfrm>
            <a:off x="1699260" y="1632226"/>
            <a:ext cx="3492000" cy="209520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A6B31-12E6-A08C-29D3-7D98B17766E1}"/>
              </a:ext>
            </a:extLst>
          </p:cNvPr>
          <p:cNvSpPr txBox="1"/>
          <p:nvPr/>
        </p:nvSpPr>
        <p:spPr>
          <a:xfrm>
            <a:off x="6492240" y="1776849"/>
            <a:ext cx="5257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A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70251B-32AE-6EEB-655A-41E0101EAE94}"/>
              </a:ext>
            </a:extLst>
          </p:cNvPr>
          <p:cNvSpPr/>
          <p:nvPr/>
        </p:nvSpPr>
        <p:spPr>
          <a:xfrm>
            <a:off x="7505698" y="1632226"/>
            <a:ext cx="3491999" cy="209520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13727-A5DD-2C6E-5F9B-89A673E8BA4D}"/>
              </a:ext>
            </a:extLst>
          </p:cNvPr>
          <p:cNvSpPr txBox="1"/>
          <p:nvPr/>
        </p:nvSpPr>
        <p:spPr>
          <a:xfrm>
            <a:off x="643813" y="4204973"/>
            <a:ext cx="5257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B 2024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9AB292-174F-1A5F-AE17-D8A518ED1D74}"/>
              </a:ext>
            </a:extLst>
          </p:cNvPr>
          <p:cNvSpPr/>
          <p:nvPr/>
        </p:nvSpPr>
        <p:spPr>
          <a:xfrm>
            <a:off x="1699260" y="4153457"/>
            <a:ext cx="3492000" cy="209520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2B71A-B9B9-46FE-8A93-04B36DE21EC4}"/>
              </a:ext>
            </a:extLst>
          </p:cNvPr>
          <p:cNvSpPr txBox="1"/>
          <p:nvPr/>
        </p:nvSpPr>
        <p:spPr>
          <a:xfrm>
            <a:off x="6492240" y="4200622"/>
            <a:ext cx="5257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B 2025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19D651-E11E-6AAD-331E-AAB565F3396A}"/>
              </a:ext>
            </a:extLst>
          </p:cNvPr>
          <p:cNvSpPr/>
          <p:nvPr/>
        </p:nvSpPr>
        <p:spPr>
          <a:xfrm>
            <a:off x="7505699" y="4153457"/>
            <a:ext cx="3491998" cy="209520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artA2024;Rust_Runtime.png">
            <a:extLst>
              <a:ext uri="{FF2B5EF4-FFF2-40B4-BE49-F238E27FC236}">
                <a16:creationId xmlns:a16="http://schemas.microsoft.com/office/drawing/2014/main" id="{DAC3BAE6-A027-8AC9-1AF5-66CD4FCEF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76" y="1660743"/>
            <a:ext cx="3471084" cy="2066683"/>
          </a:xfrm>
          <a:prstGeom prst="rect">
            <a:avLst/>
          </a:prstGeom>
        </p:spPr>
      </p:pic>
      <p:pic>
        <p:nvPicPr>
          <p:cNvPr id="20" name="Picture 19" descr="PartB2024_rust_runtime.png">
            <a:extLst>
              <a:ext uri="{FF2B5EF4-FFF2-40B4-BE49-F238E27FC236}">
                <a16:creationId xmlns:a16="http://schemas.microsoft.com/office/drawing/2014/main" id="{9F285011-204C-6BCA-3A24-10B083293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176" y="4153457"/>
            <a:ext cx="3471084" cy="2095200"/>
          </a:xfrm>
          <a:prstGeom prst="rect">
            <a:avLst/>
          </a:prstGeom>
        </p:spPr>
      </p:pic>
      <p:pic>
        <p:nvPicPr>
          <p:cNvPr id="21" name="Picture 20" descr="PartA2025_rust_runtime.png">
            <a:extLst>
              <a:ext uri="{FF2B5EF4-FFF2-40B4-BE49-F238E27FC236}">
                <a16:creationId xmlns:a16="http://schemas.microsoft.com/office/drawing/2014/main" id="{785CD5E8-CBE9-110C-A0D7-4C7E0E159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559" y="1647056"/>
            <a:ext cx="3469137" cy="2080370"/>
          </a:xfrm>
          <a:prstGeom prst="rect">
            <a:avLst/>
          </a:prstGeom>
        </p:spPr>
      </p:pic>
      <p:pic>
        <p:nvPicPr>
          <p:cNvPr id="22" name="Picture 21" descr="PartB2025_rust_runtime.png">
            <a:extLst>
              <a:ext uri="{FF2B5EF4-FFF2-40B4-BE49-F238E27FC236}">
                <a16:creationId xmlns:a16="http://schemas.microsoft.com/office/drawing/2014/main" id="{AD975EDC-5676-99DB-6246-EBC0403FC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698" y="4153457"/>
            <a:ext cx="3491999" cy="20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78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06C83C67-8A1B-5F6E-FE3F-EB5DA9EEAD54}"/>
              </a:ext>
            </a:extLst>
          </p:cNvPr>
          <p:cNvGrpSpPr/>
          <p:nvPr/>
        </p:nvGrpSpPr>
        <p:grpSpPr>
          <a:xfrm>
            <a:off x="6096000" y="2699408"/>
            <a:ext cx="5779130" cy="2804823"/>
            <a:chOff x="6096000" y="2513551"/>
            <a:chExt cx="5779130" cy="2804823"/>
          </a:xfrm>
        </p:grpSpPr>
        <p:pic>
          <p:nvPicPr>
            <p:cNvPr id="8" name="Picture 7" descr="Rust_memory_all.png"/>
            <p:cNvPicPr>
              <a:picLocks noChangeAspect="1"/>
            </p:cNvPicPr>
            <p:nvPr/>
          </p:nvPicPr>
          <p:blipFill>
            <a:blip r:embed="rId2"/>
            <a:srcRect l="8392" t="11029" r="8201"/>
            <a:stretch>
              <a:fillRect/>
            </a:stretch>
          </p:blipFill>
          <p:spPr>
            <a:xfrm>
              <a:off x="6096000" y="2513551"/>
              <a:ext cx="5779130" cy="2697054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98226EF5-A027-2CD2-37FC-071977F03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5" t="3303" r="-135" b="-3303"/>
            <a:stretch>
              <a:fillRect/>
            </a:stretch>
          </p:blipFill>
          <p:spPr>
            <a:xfrm>
              <a:off x="6341905" y="4916302"/>
              <a:ext cx="5390354" cy="402072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F09244-E6EF-8C61-31A0-9F155F10B68B}"/>
              </a:ext>
            </a:extLst>
          </p:cNvPr>
          <p:cNvGrpSpPr/>
          <p:nvPr/>
        </p:nvGrpSpPr>
        <p:grpSpPr>
          <a:xfrm>
            <a:off x="89633" y="2693643"/>
            <a:ext cx="5863489" cy="2810588"/>
            <a:chOff x="89633" y="2507786"/>
            <a:chExt cx="5863489" cy="281058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160596B-FAA5-B6CD-8171-BFE2BF30D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915" t="11400" r="8588"/>
            <a:stretch>
              <a:fillRect/>
            </a:stretch>
          </p:blipFill>
          <p:spPr>
            <a:xfrm>
              <a:off x="89633" y="2507786"/>
              <a:ext cx="5863489" cy="2697053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19E152F-94AA-77A8-22BD-40547F826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5" t="3303" r="-135" b="-3303"/>
            <a:stretch>
              <a:fillRect/>
            </a:stretch>
          </p:blipFill>
          <p:spPr>
            <a:xfrm>
              <a:off x="459741" y="4916302"/>
              <a:ext cx="5390354" cy="402072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Memory usage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0597" y="1347954"/>
            <a:ext cx="71876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3"/>
                </a:solidFill>
                <a:latin typeface="Aptos"/>
              </a:defRPr>
            </a:pPr>
            <a:r>
              <a:rPr sz="1400" dirty="0"/>
              <a:t>Rust uses substantially less memory, while Python has a higher and more variable footprint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16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AB0A05-B438-3B85-DA93-C2F57A977BA6}"/>
              </a:ext>
            </a:extLst>
          </p:cNvPr>
          <p:cNvCxnSpPr>
            <a:cxnSpLocks/>
          </p:cNvCxnSpPr>
          <p:nvPr/>
        </p:nvCxnSpPr>
        <p:spPr>
          <a:xfrm>
            <a:off x="661064" y="5583911"/>
            <a:ext cx="4953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B9BA67-4E28-46ED-7289-19400C68B716}"/>
              </a:ext>
            </a:extLst>
          </p:cNvPr>
          <p:cNvCxnSpPr/>
          <p:nvPr/>
        </p:nvCxnSpPr>
        <p:spPr>
          <a:xfrm>
            <a:off x="649634" y="5456911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7758EF-8D31-65B3-C184-815CDF8FC576}"/>
              </a:ext>
            </a:extLst>
          </p:cNvPr>
          <p:cNvCxnSpPr/>
          <p:nvPr/>
        </p:nvCxnSpPr>
        <p:spPr>
          <a:xfrm>
            <a:off x="5633177" y="5456911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4E7577-8F36-A7BD-2003-126435ADE66D}"/>
              </a:ext>
            </a:extLst>
          </p:cNvPr>
          <p:cNvCxnSpPr>
            <a:cxnSpLocks/>
          </p:cNvCxnSpPr>
          <p:nvPr/>
        </p:nvCxnSpPr>
        <p:spPr>
          <a:xfrm>
            <a:off x="1967894" y="5456911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D267496-9DF1-E998-7BAE-4AAC86724C0F}"/>
              </a:ext>
            </a:extLst>
          </p:cNvPr>
          <p:cNvCxnSpPr>
            <a:cxnSpLocks/>
          </p:cNvCxnSpPr>
          <p:nvPr/>
        </p:nvCxnSpPr>
        <p:spPr>
          <a:xfrm>
            <a:off x="3364894" y="5456911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053FEFD-C1E7-64F5-71C1-D103881E2F3E}"/>
              </a:ext>
            </a:extLst>
          </p:cNvPr>
          <p:cNvCxnSpPr>
            <a:cxnSpLocks/>
          </p:cNvCxnSpPr>
          <p:nvPr/>
        </p:nvCxnSpPr>
        <p:spPr>
          <a:xfrm>
            <a:off x="4520594" y="5442438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2397BEC-F8C7-A030-0F18-B895B98B1644}"/>
              </a:ext>
            </a:extLst>
          </p:cNvPr>
          <p:cNvCxnSpPr>
            <a:cxnSpLocks/>
          </p:cNvCxnSpPr>
          <p:nvPr/>
        </p:nvCxnSpPr>
        <p:spPr>
          <a:xfrm>
            <a:off x="6635623" y="5586664"/>
            <a:ext cx="4953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055DFBC-A234-922B-8A55-62A0B58621D1}"/>
              </a:ext>
            </a:extLst>
          </p:cNvPr>
          <p:cNvCxnSpPr/>
          <p:nvPr/>
        </p:nvCxnSpPr>
        <p:spPr>
          <a:xfrm>
            <a:off x="6624193" y="545966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9A94D1-3AB8-6D3A-77BE-9F6971E5EAC7}"/>
              </a:ext>
            </a:extLst>
          </p:cNvPr>
          <p:cNvCxnSpPr/>
          <p:nvPr/>
        </p:nvCxnSpPr>
        <p:spPr>
          <a:xfrm>
            <a:off x="11588623" y="545966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D97AF6-B7E3-A711-A78D-AC7F4967E6AC}"/>
              </a:ext>
            </a:extLst>
          </p:cNvPr>
          <p:cNvCxnSpPr>
            <a:cxnSpLocks/>
          </p:cNvCxnSpPr>
          <p:nvPr/>
        </p:nvCxnSpPr>
        <p:spPr>
          <a:xfrm>
            <a:off x="7942453" y="545966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76572F-7FC1-CC17-C9FA-361CB50D6E79}"/>
              </a:ext>
            </a:extLst>
          </p:cNvPr>
          <p:cNvCxnSpPr>
            <a:cxnSpLocks/>
          </p:cNvCxnSpPr>
          <p:nvPr/>
        </p:nvCxnSpPr>
        <p:spPr>
          <a:xfrm>
            <a:off x="9329166" y="545966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A6108BA-CB04-DBE1-1D6F-7F3B3B67DCC6}"/>
              </a:ext>
            </a:extLst>
          </p:cNvPr>
          <p:cNvCxnSpPr>
            <a:cxnSpLocks/>
          </p:cNvCxnSpPr>
          <p:nvPr/>
        </p:nvCxnSpPr>
        <p:spPr>
          <a:xfrm>
            <a:off x="10495153" y="5459664"/>
            <a:ext cx="0" cy="24765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A4214C8-2ADF-72A7-BFAA-FB3C4A7712AA}"/>
              </a:ext>
            </a:extLst>
          </p:cNvPr>
          <p:cNvSpPr txBox="1"/>
          <p:nvPr/>
        </p:nvSpPr>
        <p:spPr>
          <a:xfrm>
            <a:off x="3485402" y="5547502"/>
            <a:ext cx="925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2024 Part 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9A8A3B-7A35-72B8-1237-FC143DAEA5A3}"/>
              </a:ext>
            </a:extLst>
          </p:cNvPr>
          <p:cNvSpPr txBox="1"/>
          <p:nvPr/>
        </p:nvSpPr>
        <p:spPr>
          <a:xfrm>
            <a:off x="2229863" y="5550037"/>
            <a:ext cx="925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2025 Part 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1707E1-9D40-51BA-979A-005FB1C0F329}"/>
              </a:ext>
            </a:extLst>
          </p:cNvPr>
          <p:cNvSpPr txBox="1"/>
          <p:nvPr/>
        </p:nvSpPr>
        <p:spPr>
          <a:xfrm>
            <a:off x="855312" y="5550469"/>
            <a:ext cx="1040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2024 Part 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03E2B9-C733-3AEF-89FC-9D8F2ED58B7C}"/>
              </a:ext>
            </a:extLst>
          </p:cNvPr>
          <p:cNvSpPr txBox="1"/>
          <p:nvPr/>
        </p:nvSpPr>
        <p:spPr>
          <a:xfrm>
            <a:off x="4630732" y="5555395"/>
            <a:ext cx="1057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2025 Part 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A4F731-D6CF-F9CF-9054-9CECEB239F05}"/>
              </a:ext>
            </a:extLst>
          </p:cNvPr>
          <p:cNvSpPr txBox="1"/>
          <p:nvPr/>
        </p:nvSpPr>
        <p:spPr>
          <a:xfrm>
            <a:off x="9459961" y="5589840"/>
            <a:ext cx="925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2024 Part 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FC875A-0B3D-4413-9417-5C806D8B163A}"/>
              </a:ext>
            </a:extLst>
          </p:cNvPr>
          <p:cNvSpPr txBox="1"/>
          <p:nvPr/>
        </p:nvSpPr>
        <p:spPr>
          <a:xfrm>
            <a:off x="8190215" y="5576509"/>
            <a:ext cx="925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2025 Part 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78B45A-6F8A-C65E-6EA6-B826A2FC4876}"/>
              </a:ext>
            </a:extLst>
          </p:cNvPr>
          <p:cNvSpPr txBox="1"/>
          <p:nvPr/>
        </p:nvSpPr>
        <p:spPr>
          <a:xfrm>
            <a:off x="6865959" y="5583489"/>
            <a:ext cx="1040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2024 Part 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42F113-B315-CD8E-6052-63A7801C3EB3}"/>
              </a:ext>
            </a:extLst>
          </p:cNvPr>
          <p:cNvSpPr txBox="1"/>
          <p:nvPr/>
        </p:nvSpPr>
        <p:spPr>
          <a:xfrm>
            <a:off x="10615964" y="5583489"/>
            <a:ext cx="1057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2025 Part B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8B23D87-2262-1F69-F97A-2227D44B36A4}"/>
              </a:ext>
            </a:extLst>
          </p:cNvPr>
          <p:cNvCxnSpPr>
            <a:cxnSpLocks/>
          </p:cNvCxnSpPr>
          <p:nvPr/>
        </p:nvCxnSpPr>
        <p:spPr>
          <a:xfrm flipH="1">
            <a:off x="2328863" y="3381495"/>
            <a:ext cx="52387" cy="48101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3FD143B-E860-BA5D-832B-3A37A9988574}"/>
              </a:ext>
            </a:extLst>
          </p:cNvPr>
          <p:cNvCxnSpPr>
            <a:cxnSpLocks/>
          </p:cNvCxnSpPr>
          <p:nvPr/>
        </p:nvCxnSpPr>
        <p:spPr>
          <a:xfrm flipH="1">
            <a:off x="4905375" y="2164257"/>
            <a:ext cx="111125" cy="573081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ED241BA-48E6-C3B7-CE3C-D4E889A63CF2}"/>
              </a:ext>
            </a:extLst>
          </p:cNvPr>
          <p:cNvCxnSpPr>
            <a:cxnSpLocks/>
          </p:cNvCxnSpPr>
          <p:nvPr/>
        </p:nvCxnSpPr>
        <p:spPr>
          <a:xfrm flipH="1" flipV="1">
            <a:off x="8333217" y="2828203"/>
            <a:ext cx="448833" cy="47598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2DBBD2F-0131-FFEC-1F28-51AD7715692B}"/>
              </a:ext>
            </a:extLst>
          </p:cNvPr>
          <p:cNvCxnSpPr>
            <a:cxnSpLocks/>
          </p:cNvCxnSpPr>
          <p:nvPr/>
        </p:nvCxnSpPr>
        <p:spPr>
          <a:xfrm>
            <a:off x="10591802" y="2381936"/>
            <a:ext cx="177062" cy="35540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4B56658-D9DD-D478-E4F3-0A1EBB807C32}"/>
              </a:ext>
            </a:extLst>
          </p:cNvPr>
          <p:cNvCxnSpPr>
            <a:cxnSpLocks/>
          </p:cNvCxnSpPr>
          <p:nvPr/>
        </p:nvCxnSpPr>
        <p:spPr>
          <a:xfrm>
            <a:off x="11420476" y="3676770"/>
            <a:ext cx="79120" cy="431736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76A1EBA-891A-4933-8773-7C5490B715C2}"/>
              </a:ext>
            </a:extLst>
          </p:cNvPr>
          <p:cNvCxnSpPr>
            <a:cxnSpLocks/>
          </p:cNvCxnSpPr>
          <p:nvPr/>
        </p:nvCxnSpPr>
        <p:spPr>
          <a:xfrm flipH="1">
            <a:off x="4917583" y="2060834"/>
            <a:ext cx="121142" cy="598919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58B59AA-AC88-B212-60A3-1828EE38C5A3}"/>
              </a:ext>
            </a:extLst>
          </p:cNvPr>
          <p:cNvCxnSpPr>
            <a:cxnSpLocks/>
          </p:cNvCxnSpPr>
          <p:nvPr/>
        </p:nvCxnSpPr>
        <p:spPr>
          <a:xfrm>
            <a:off x="11399045" y="3580601"/>
            <a:ext cx="95789" cy="47925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EEDA2C7-0CB4-D140-960E-832D959B5AFD}"/>
              </a:ext>
            </a:extLst>
          </p:cNvPr>
          <p:cNvSpPr txBox="1"/>
          <p:nvPr/>
        </p:nvSpPr>
        <p:spPr>
          <a:xfrm>
            <a:off x="2011680" y="3210731"/>
            <a:ext cx="10572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1"/>
                </a:solidFill>
              </a:rPr>
              <a:t>2025 Part A Day 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B461D1-6873-0C9C-FCF3-7F2BAE2DD3E2}"/>
              </a:ext>
            </a:extLst>
          </p:cNvPr>
          <p:cNvSpPr txBox="1"/>
          <p:nvPr/>
        </p:nvSpPr>
        <p:spPr>
          <a:xfrm>
            <a:off x="4631122" y="1857459"/>
            <a:ext cx="10572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6"/>
                </a:solidFill>
              </a:rPr>
              <a:t>2025 Part B Day 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C65275-1F9C-AD84-BA2B-CE4CE1CC9648}"/>
              </a:ext>
            </a:extLst>
          </p:cNvPr>
          <p:cNvSpPr txBox="1"/>
          <p:nvPr/>
        </p:nvSpPr>
        <p:spPr>
          <a:xfrm>
            <a:off x="8456927" y="3353759"/>
            <a:ext cx="10572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6"/>
                </a:solidFill>
              </a:rPr>
              <a:t>2025 Part A Day 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6CA9E3A-308A-1588-30BC-2A1F8B9CA50B}"/>
              </a:ext>
            </a:extLst>
          </p:cNvPr>
          <p:cNvSpPr txBox="1"/>
          <p:nvPr/>
        </p:nvSpPr>
        <p:spPr>
          <a:xfrm>
            <a:off x="10240226" y="2164257"/>
            <a:ext cx="10572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6"/>
                </a:solidFill>
              </a:rPr>
              <a:t>2025 Part B Day 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EBF465-B0F1-9803-04E3-D8D655B6B646}"/>
              </a:ext>
            </a:extLst>
          </p:cNvPr>
          <p:cNvSpPr txBox="1"/>
          <p:nvPr/>
        </p:nvSpPr>
        <p:spPr>
          <a:xfrm>
            <a:off x="10947082" y="3393283"/>
            <a:ext cx="10572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accent6"/>
                </a:solidFill>
              </a:rPr>
              <a:t>2025 Part B Day 11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C5FA230-D423-8D67-9ACC-F53C4D551AAB}"/>
              </a:ext>
            </a:extLst>
          </p:cNvPr>
          <p:cNvSpPr txBox="1"/>
          <p:nvPr/>
        </p:nvSpPr>
        <p:spPr>
          <a:xfrm>
            <a:off x="1641784" y="2085718"/>
            <a:ext cx="302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 (app. 7 – 16 MIB)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A5B260C-43C0-48B0-369F-DC90D0056783}"/>
              </a:ext>
            </a:extLst>
          </p:cNvPr>
          <p:cNvSpPr txBox="1"/>
          <p:nvPr/>
        </p:nvSpPr>
        <p:spPr>
          <a:xfrm>
            <a:off x="7676586" y="2079766"/>
            <a:ext cx="302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Rust (app. 1 – 2 MIB)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Python memory usage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5848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476" y="1683070"/>
            <a:ext cx="5428895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A 2024</a:t>
            </a:r>
          </a:p>
        </p:txBody>
      </p:sp>
      <p:pic>
        <p:nvPicPr>
          <p:cNvPr id="9" name="Picture 8" descr="PartA2024_Python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52" y="1621657"/>
            <a:ext cx="3555145" cy="21330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43352" y="1621657"/>
            <a:ext cx="3555145" cy="2133087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3781" y="1655482"/>
            <a:ext cx="5428895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A 2025</a:t>
            </a:r>
          </a:p>
        </p:txBody>
      </p:sp>
      <p:pic>
        <p:nvPicPr>
          <p:cNvPr id="12" name="Picture 11" descr="PartA2025_Python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791" y="1621657"/>
            <a:ext cx="3555145" cy="213308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65801" y="1621657"/>
            <a:ext cx="3539135" cy="2133087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952" y="3998098"/>
            <a:ext cx="5428895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B 2024</a:t>
            </a:r>
          </a:p>
        </p:txBody>
      </p:sp>
      <p:pic>
        <p:nvPicPr>
          <p:cNvPr id="15" name="Picture 14" descr="PartB2024_Python_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352" y="3953377"/>
            <a:ext cx="3555145" cy="213308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543352" y="3953377"/>
            <a:ext cx="3555145" cy="2133087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5272" y="3998098"/>
            <a:ext cx="5428895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B 2025</a:t>
            </a:r>
          </a:p>
        </p:txBody>
      </p:sp>
      <p:pic>
        <p:nvPicPr>
          <p:cNvPr id="18" name="Picture 17" descr="PartB2025_Python_mem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791" y="3953377"/>
            <a:ext cx="3555145" cy="213308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49791" y="3953377"/>
            <a:ext cx="3555145" cy="2133087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Rust memory usage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599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479" y="1708352"/>
            <a:ext cx="5696110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A 2024</a:t>
            </a:r>
          </a:p>
        </p:txBody>
      </p:sp>
      <p:pic>
        <p:nvPicPr>
          <p:cNvPr id="9" name="Picture 8" descr="PartA2024_rust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29" y="1652358"/>
            <a:ext cx="3599281" cy="21595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77729" y="1652358"/>
            <a:ext cx="3599281" cy="215957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5585" y="1708352"/>
            <a:ext cx="5696110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A 2025</a:t>
            </a:r>
          </a:p>
        </p:txBody>
      </p:sp>
      <p:pic>
        <p:nvPicPr>
          <p:cNvPr id="12" name="Picture 11" descr="PartA2025_Rust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168" y="1652358"/>
            <a:ext cx="3599281" cy="215956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84168" y="1652358"/>
            <a:ext cx="3599281" cy="215957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479" y="4090739"/>
            <a:ext cx="5696110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B 2024</a:t>
            </a:r>
          </a:p>
        </p:txBody>
      </p:sp>
      <p:pic>
        <p:nvPicPr>
          <p:cNvPr id="15" name="Picture 14" descr="PartB2024_Rust_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729" y="3984078"/>
            <a:ext cx="3599281" cy="21595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77729" y="3984078"/>
            <a:ext cx="3599281" cy="215957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71910" y="4136872"/>
            <a:ext cx="5696110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ptos"/>
              </a:defRPr>
            </a:pPr>
            <a:r>
              <a:rPr dirty="0"/>
              <a:t>Part B 2025</a:t>
            </a:r>
          </a:p>
        </p:txBody>
      </p:sp>
      <p:pic>
        <p:nvPicPr>
          <p:cNvPr id="18" name="Picture 17" descr="PartB2025_Rust_mem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168" y="3984078"/>
            <a:ext cx="3599281" cy="215956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484168" y="3984078"/>
            <a:ext cx="3599281" cy="2159570"/>
          </a:xfrm>
          <a:prstGeom prst="rect">
            <a:avLst/>
          </a:prstGeom>
          <a:noFill/>
          <a:ln w="1016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Code-quality review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5156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Average scores across the uploaded review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750" b="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1600200" cy="438912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517904"/>
            <a:ext cx="154533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417320"/>
            <a:ext cx="1234440" cy="438912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1991" y="1517904"/>
            <a:ext cx="117957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1417320" cy="438912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517904"/>
            <a:ext cx="13624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Readability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417320"/>
            <a:ext cx="1417320" cy="438912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73752" y="1517904"/>
            <a:ext cx="13624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1600200" cy="438912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1517904"/>
            <a:ext cx="154533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Idiomatic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17320"/>
            <a:ext cx="1874519" cy="438912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1" y="1517904"/>
            <a:ext cx="1819655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Low complexity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1417320"/>
            <a:ext cx="1188720" cy="438912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65792" y="1517904"/>
            <a:ext cx="11338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Overall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1856232"/>
            <a:ext cx="160020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" y="1965960"/>
            <a:ext cx="152704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Codex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1856232"/>
            <a:ext cx="123444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31136" y="1965960"/>
            <a:ext cx="116128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1856232"/>
            <a:ext cx="141732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65576" y="1965960"/>
            <a:ext cx="13441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4.27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856232"/>
            <a:ext cx="141732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82896" y="1965960"/>
            <a:ext cx="13441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3.68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856232"/>
            <a:ext cx="160020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0216" y="1965960"/>
            <a:ext cx="152704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4.14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1856232"/>
            <a:ext cx="1874519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00415" y="1965960"/>
            <a:ext cx="1801367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4.32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8360" y="1856232"/>
            <a:ext cx="118872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74936" y="1965960"/>
            <a:ext cx="11155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1">
                <a:solidFill>
                  <a:srgbClr val="A82626"/>
                </a:solidFill>
                <a:latin typeface="Aptos"/>
              </a:defRPr>
            </a:pPr>
            <a:r>
              <a:t>4.10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2295144"/>
            <a:ext cx="1600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" y="2404872"/>
            <a:ext cx="152704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Codex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2295144"/>
            <a:ext cx="1234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31136" y="2404872"/>
            <a:ext cx="116128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2295144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65576" y="2404872"/>
            <a:ext cx="13441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4.23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2295144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82896" y="2404872"/>
            <a:ext cx="13441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295144"/>
            <a:ext cx="1600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0216" y="2404872"/>
            <a:ext cx="152704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4.09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2295144"/>
            <a:ext cx="187451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0415" y="2404872"/>
            <a:ext cx="1801367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38360" y="2295144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74936" y="2404872"/>
            <a:ext cx="11155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1">
                <a:solidFill>
                  <a:srgbClr val="A82626"/>
                </a:solidFill>
                <a:latin typeface="Aptos"/>
              </a:defRPr>
            </a:pPr>
            <a:r>
              <a:t>3.92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2734056"/>
            <a:ext cx="160020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936" y="2843784"/>
            <a:ext cx="152704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Claude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94560" y="2734056"/>
            <a:ext cx="123444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31136" y="2843784"/>
            <a:ext cx="116128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29000" y="2734056"/>
            <a:ext cx="141732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65576" y="2843784"/>
            <a:ext cx="13441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3.77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0" y="2734056"/>
            <a:ext cx="141732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82896" y="2843784"/>
            <a:ext cx="13441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2734056"/>
            <a:ext cx="160020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00216" y="2843784"/>
            <a:ext cx="152704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3.77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2734056"/>
            <a:ext cx="1874519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900415" y="2843784"/>
            <a:ext cx="1801367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3.91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38360" y="2734056"/>
            <a:ext cx="1188720" cy="438912"/>
          </a:xfrm>
          <a:prstGeom prst="rect">
            <a:avLst/>
          </a:prstGeom>
          <a:solidFill>
            <a:srgbClr val="FAFBFC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74936" y="2843784"/>
            <a:ext cx="11155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1">
                <a:solidFill>
                  <a:srgbClr val="A82626"/>
                </a:solidFill>
                <a:latin typeface="Aptos"/>
              </a:defRPr>
            </a:pPr>
            <a:r>
              <a:t>3.64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3172968"/>
            <a:ext cx="1600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0936" y="3282696"/>
            <a:ext cx="152704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Claude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94560" y="3172968"/>
            <a:ext cx="1234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231136" y="3282696"/>
            <a:ext cx="116128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29000" y="317296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65576" y="3282696"/>
            <a:ext cx="13441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3.64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317296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82896" y="3282696"/>
            <a:ext cx="13441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2.82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63640" y="3172968"/>
            <a:ext cx="1600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00216" y="3282696"/>
            <a:ext cx="152704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4.09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3172968"/>
            <a:ext cx="1874519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00415" y="3282696"/>
            <a:ext cx="1801367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Aptos"/>
              </a:defRPr>
            </a:pPr>
            <a:r>
              <a:t>3.95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38360" y="3172968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74936" y="3282696"/>
            <a:ext cx="1115568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050" b="1">
                <a:solidFill>
                  <a:srgbClr val="A82626"/>
                </a:solidFill>
                <a:latin typeface="Aptos"/>
              </a:defRPr>
            </a:pPr>
            <a:r>
              <a:t>3.62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77240" y="406908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77240" y="4069080"/>
            <a:ext cx="73152" cy="1417320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1832" y="4178808"/>
            <a:ext cx="31546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Highest average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1832" y="4572000"/>
            <a:ext cx="3136392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Codex/Python receives the highest overall code-quality score in the review files.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434840" y="406908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434840" y="4069080"/>
            <a:ext cx="73152" cy="1417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99431" y="4178808"/>
            <a:ext cx="31546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Main weakness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99431" y="4572000"/>
            <a:ext cx="3136392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Structure is the lowest-scoring dimension overall, especially when solutions are kept as one top-level script.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92440" y="406908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092440" y="4069080"/>
            <a:ext cx="73152" cy="14173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257031" y="4178808"/>
            <a:ext cx="31546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57031" y="4572000"/>
            <a:ext cx="3136392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Correctness was perfect in this dataset, so quality scores help distinguish maintainability.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96696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Stronger interpretation: runtime spikes reveal algorithmic fragility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5156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The outliers are more important than the average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750" b="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73152" cy="4343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Python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3090672" cy="374903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Python shows the clearest runtime instability. Several tasks are close together, but individual cases create strong peaks. This suggests that small algorithmic differences are amplified by interpreter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73152" cy="43434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572768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Rust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65960"/>
            <a:ext cx="3090672" cy="374903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Rust runtime is usually tightly clustered around a low baseline. When spikes occur, they stand out clearly and likely point to problem-specific implementation or algorithmic choices rather than general language overhead.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73152" cy="4343400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572768"/>
            <a:ext cx="31089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Interpretive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65960"/>
            <a:ext cx="3090672" cy="374903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1120" b="0">
                <a:solidFill>
                  <a:srgbClr val="4B5563"/>
                </a:solidFill>
                <a:latin typeface="Aptos"/>
              </a:defRPr>
            </a:pPr>
            <a:r>
              <a:t>The models are capable of finding working algorithms, but not always equally robust efficient ones. Runtime outliers are evidence of unstable optimization quality.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t>Outlier analysis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Outliers are interpreted statistically first, then explained by reading the generated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828800" cy="41148"/>
          </a:xfrm>
          <a:prstGeom prst="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3611880"/>
          </a:xfrm>
          <a:prstGeom prst="roundRect">
            <a:avLst/>
          </a:prstGeom>
          <a:solidFill>
            <a:srgbClr val="E8F2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361188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42666"/>
            <a:ext cx="4983480" cy="2108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Detection rule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Tukey 1.5×IQR rule applied separately to Python and Rust.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Metrics checked: mean runtime, mean memory usage, and lines of code.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Separate language baselines avoid comparing interpreted Python directly against compiled 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303520" cy="3611880"/>
          </a:xfrm>
          <a:prstGeom prst="roundRect">
            <a:avLst/>
          </a:prstGeom>
          <a:solidFill>
            <a:srgbClr val="FFF2E6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73152" cy="3611880"/>
          </a:xfrm>
          <a:prstGeom prst="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2720" y="2092708"/>
            <a:ext cx="4983480" cy="1807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Interpretation rule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Each flagged row was mapped back to its solution file.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The final interpretation is code-based, not only spreadsheet-based.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Rust timings cluster very tightly around ~12 </a:t>
            </a:r>
            <a:r>
              <a:rPr dirty="0" err="1"/>
              <a:t>ms</a:t>
            </a:r>
            <a:r>
              <a:rPr dirty="0"/>
              <a:t>, so several Rust outliers are statistical rather than practically large.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464"/>
                </a:solidFill>
              </a:defRPr>
            </a:pPr>
            <a:r>
              <a:t>Bachelor Thesis Defense · Benchmarking LLMs on Algorithmic Programming Tasks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054"/>
            <a:ext cx="65968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rPr lang="en-GB" dirty="0"/>
              <a:t>Runtime o</a:t>
            </a:r>
            <a:r>
              <a:rPr dirty="0" err="1"/>
              <a:t>utlier</a:t>
            </a:r>
            <a:r>
              <a:rPr lang="en-GB" dirty="0"/>
              <a:t> analysis</a:t>
            </a:r>
            <a:r>
              <a:rPr dirty="0"/>
              <a:t>: 2025 Day 2 Part 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828800" cy="41148"/>
          </a:xfrm>
          <a:prstGeom prst="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0832" y="1586484"/>
            <a:ext cx="11164824" cy="4270248"/>
          </a:xfrm>
          <a:prstGeom prst="roundRect">
            <a:avLst/>
          </a:prstGeom>
          <a:solidFill>
            <a:srgbClr val="E8F2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3646" y="2119937"/>
            <a:ext cx="3513470" cy="2051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Claude · Python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Most extreme runtime outlier in the dataset.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Generates invalid IDs globally, then scans the sorted list for every query range.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String construction and Python container overhead also increase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0253" y="2114697"/>
            <a:ext cx="3383279" cy="2628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Codex · Python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Still a runtime and memory outlier, but faster than Claude.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Uses sorted invalid IDs plus prefix sums and binary search for ranges.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Trading additional memory for better query behavior reduces—but does not remove—the spike.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834" y="2075985"/>
            <a:ext cx="3017520" cy="2596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Codex · Rust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30">
                <a:solidFill>
                  <a:srgbClr val="232323"/>
                </a:solidFill>
              </a:defRPr>
            </a:pPr>
            <a:r>
              <a:rPr dirty="0"/>
              <a:t>Meaningful Rust outlier, not just statistical.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30">
                <a:solidFill>
                  <a:srgbClr val="232323"/>
                </a:solidFill>
              </a:defRPr>
            </a:pPr>
            <a:r>
              <a:rPr dirty="0"/>
              <a:t>Globally materializes the repeated-ID universe up to </a:t>
            </a:r>
            <a:r>
              <a:rPr dirty="0" err="1"/>
              <a:t>max_end</a:t>
            </a:r>
            <a:r>
              <a:rPr dirty="0"/>
              <a:t>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30">
                <a:solidFill>
                  <a:srgbClr val="232323"/>
                </a:solidFill>
              </a:defRPr>
            </a:pPr>
            <a:r>
              <a:rPr dirty="0"/>
              <a:t>String-based block repetition keeps the code correct but heavier than necessary.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464"/>
                </a:solidFill>
              </a:defRPr>
            </a:pPr>
            <a:r>
              <a:t>Bachelor Thesis Defense · Benchmarking LLMs on Algorithmic Programming Tasks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43208" y="1748790"/>
            <a:ext cx="10841072" cy="4160520"/>
          </a:xfrm>
          <a:prstGeom prst="roundRect">
            <a:avLst/>
          </a:prstGeom>
          <a:solidFill>
            <a:srgbClr val="FFF2E6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67795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rPr lang="en-GB" dirty="0"/>
              <a:t>Runtime outlier analysis</a:t>
            </a:r>
            <a:r>
              <a:rPr dirty="0"/>
              <a:t>: 2024 Day 1</a:t>
            </a:r>
            <a:r>
              <a:rPr lang="en-GB" dirty="0"/>
              <a:t>3</a:t>
            </a:r>
            <a:r>
              <a:rPr dirty="0"/>
              <a:t> Part </a:t>
            </a:r>
            <a:r>
              <a:rPr lang="en-GB" dirty="0"/>
              <a:t>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828800" cy="41148"/>
          </a:xfrm>
          <a:prstGeom prst="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2017" y="2576624"/>
            <a:ext cx="4892040" cy="2108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Claude · Python: per-cell corner counting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Flood-fills each region and calls corner logic for every visited cell.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Each corner check performs multiple neighbor and diagonal membership tests.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This is conceptually clean, but it creates a high Python-level constant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249" y="2792068"/>
            <a:ext cx="4892040" cy="1677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D4A"/>
                </a:solidFill>
              </a:defRPr>
            </a:pPr>
            <a:r>
              <a:rPr dirty="0"/>
              <a:t>Codex · Python: exposed-edge postprocessing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Records exposed boundary positions during flood fill.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Counts contiguous edge runs afterwards using grouped lists.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232323"/>
                </a:solidFill>
              </a:defRPr>
            </a:pPr>
            <a:r>
              <a:rPr dirty="0"/>
              <a:t>Still expensive, but it avoids repeated local corner tests at every cell.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464"/>
                </a:solidFill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1ECC36-537B-95CC-F424-0BA1B83EDB5A}"/>
              </a:ext>
            </a:extLst>
          </p:cNvPr>
          <p:cNvSpPr txBox="1"/>
          <p:nvPr/>
        </p:nvSpPr>
        <p:spPr>
          <a:xfrm>
            <a:off x="4661359" y="1168511"/>
            <a:ext cx="3078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NOT DONE!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5E36-6FF3-2AB7-66AC-A27DEAED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8AB2D4-26E0-9423-B27C-BF4FCBBAD2C9}"/>
              </a:ext>
            </a:extLst>
          </p:cNvPr>
          <p:cNvSpPr txBox="1"/>
          <p:nvPr/>
        </p:nvSpPr>
        <p:spPr>
          <a:xfrm>
            <a:off x="457200" y="473054"/>
            <a:ext cx="65968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rPr lang="en-GB" dirty="0"/>
              <a:t>Runtime o</a:t>
            </a:r>
            <a:r>
              <a:rPr dirty="0" err="1"/>
              <a:t>utlier</a:t>
            </a:r>
            <a:r>
              <a:rPr lang="en-GB" dirty="0"/>
              <a:t> analysis</a:t>
            </a:r>
            <a:r>
              <a:rPr dirty="0"/>
              <a:t>: 202</a:t>
            </a:r>
            <a:r>
              <a:rPr lang="en-GB" dirty="0"/>
              <a:t>4</a:t>
            </a:r>
            <a:r>
              <a:rPr dirty="0"/>
              <a:t> Day 2 Part </a:t>
            </a:r>
            <a:r>
              <a:rPr lang="en-GB" dirty="0"/>
              <a:t>A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716CD1-C327-1BA2-B246-1C0BA7DE6B5D}"/>
              </a:ext>
            </a:extLst>
          </p:cNvPr>
          <p:cNvSpPr/>
          <p:nvPr/>
        </p:nvSpPr>
        <p:spPr>
          <a:xfrm>
            <a:off x="457200" y="1170432"/>
            <a:ext cx="1828800" cy="41148"/>
          </a:xfrm>
          <a:prstGeom prst="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E83570-BF71-58D1-1F28-1DC2098587C5}"/>
              </a:ext>
            </a:extLst>
          </p:cNvPr>
          <p:cNvSpPr/>
          <p:nvPr/>
        </p:nvSpPr>
        <p:spPr>
          <a:xfrm>
            <a:off x="560832" y="1586484"/>
            <a:ext cx="11164824" cy="4270248"/>
          </a:xfrm>
          <a:prstGeom prst="roundRect">
            <a:avLst/>
          </a:prstGeom>
          <a:solidFill>
            <a:srgbClr val="E8F2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C9E1A7-6DBA-FD87-FBC1-CF0DA8658B81}"/>
              </a:ext>
            </a:extLst>
          </p:cNvPr>
          <p:cNvSpPr txBox="1"/>
          <p:nvPr/>
        </p:nvSpPr>
        <p:spPr>
          <a:xfrm>
            <a:off x="4114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464"/>
                </a:solidFill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18720-A187-B462-32FC-CF9FA950CF08}"/>
              </a:ext>
            </a:extLst>
          </p:cNvPr>
          <p:cNvSpPr txBox="1"/>
          <p:nvPr/>
        </p:nvSpPr>
        <p:spPr>
          <a:xfrm>
            <a:off x="5204567" y="3044220"/>
            <a:ext cx="3078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NOT DONE!</a:t>
            </a:r>
          </a:p>
        </p:txBody>
      </p:sp>
    </p:spTree>
    <p:extLst>
      <p:ext uri="{BB962C8B-B14F-4D97-AF65-F5344CB8AC3E}">
        <p14:creationId xmlns:p14="http://schemas.microsoft.com/office/powerpoint/2010/main" val="1631691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80064"/>
            <a:ext cx="20581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rPr dirty="0"/>
              <a:t>Rust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76842"/>
            <a:ext cx="63133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rPr sz="1400" dirty="0"/>
              <a:t>Several Rust points cross the threshold because the distribution is extremely narrow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828800" cy="41148"/>
          </a:xfrm>
          <a:prstGeom prst="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3749" y="1888240"/>
            <a:ext cx="4446037" cy="4343400"/>
          </a:xfrm>
          <a:prstGeom prst="roundRect">
            <a:avLst/>
          </a:prstGeom>
          <a:solidFill>
            <a:srgbClr val="FFF2E6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7510" y="2832704"/>
            <a:ext cx="4036532" cy="182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sz="1600" dirty="0"/>
              <a:t>Meaningful Rust outliers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70">
                <a:solidFill>
                  <a:srgbClr val="232323"/>
                </a:solidFill>
              </a:defRPr>
            </a:pPr>
            <a:r>
              <a:rPr sz="1400" dirty="0"/>
              <a:t>2025 D2 Codex Rust: global precomputation and string-based reconstruction.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70">
                <a:solidFill>
                  <a:srgbClr val="232323"/>
                </a:solidFill>
              </a:defRPr>
            </a:pPr>
            <a:r>
              <a:rPr sz="1400" dirty="0"/>
              <a:t>2025 D6 Claude Rust: char grid, column scans, and temporary number strings.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6311" y="1872227"/>
            <a:ext cx="4446037" cy="4343400"/>
          </a:xfrm>
          <a:prstGeom prst="roundRect">
            <a:avLst/>
          </a:prstGeom>
          <a:solidFill>
            <a:srgbClr val="E8F2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97999" y="2755276"/>
            <a:ext cx="4036532" cy="222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Weak statistical outliers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70">
                <a:solidFill>
                  <a:srgbClr val="232323"/>
                </a:solidFill>
              </a:defRPr>
            </a:pPr>
            <a:r>
              <a:rPr sz="1400" dirty="0"/>
              <a:t>2025 D7 Codex Rust: clean DP with small extra vector allocation overhead.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70">
                <a:solidFill>
                  <a:srgbClr val="232323"/>
                </a:solidFill>
              </a:defRPr>
            </a:pPr>
            <a:r>
              <a:rPr sz="1400" dirty="0"/>
              <a:t>2024 D12 and D13 Rust low outliers: slightly cheaper runs inside a tight band.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270">
                <a:solidFill>
                  <a:srgbClr val="232323"/>
                </a:solidFill>
              </a:defRPr>
            </a:pPr>
            <a:r>
              <a:rPr sz="1400" dirty="0"/>
              <a:t>Not every Tukey outlier is a practical anomaly.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464"/>
                </a:solidFill>
              </a:defRPr>
            </a:pPr>
            <a:r>
              <a:t>Bachelor Thesis Defense · Benchmarking LLMs on Algorithmic Programming Tasks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7210"/>
            <a:ext cx="58945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A"/>
                </a:solidFill>
              </a:defRPr>
            </a:pPr>
            <a:r>
              <a:rPr lang="en-GB" dirty="0"/>
              <a:t>Summarized interpretation on outliers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828800" cy="41148"/>
          </a:xfrm>
          <a:prstGeom prst="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2460" y="1527048"/>
            <a:ext cx="3429000" cy="4434840"/>
          </a:xfrm>
          <a:prstGeom prst="roundRect">
            <a:avLst/>
          </a:prstGeom>
          <a:solidFill>
            <a:srgbClr val="E8F2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3628" y="2017565"/>
            <a:ext cx="3108960" cy="2628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Python outliers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Mainly caused by repeated scanning, global candidate generation, and geometry-heavy local checks.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Interpreter overhead and Python object storage magnify inefficient strategies.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The model may be correct but still operationally fragile.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1527048"/>
            <a:ext cx="3429000" cy="44348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82667" y="2017565"/>
            <a:ext cx="3108960" cy="2340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1C2D4A"/>
                </a:solidFill>
              </a:defRPr>
            </a:pPr>
            <a:r>
              <a:rPr dirty="0"/>
              <a:t>Rust outliers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Usually much smaller in absolute terms.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Only strongly meaningful when tied to heavier data representation or unnecessary global precomputation.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Compiled performance compresses most normal variation.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0539" y="1527048"/>
            <a:ext cx="3337560" cy="4434840"/>
          </a:xfrm>
          <a:prstGeom prst="roundRect">
            <a:avLst/>
          </a:prstGeom>
          <a:solidFill>
            <a:srgbClr val="FFF2E6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0852" y="2017565"/>
            <a:ext cx="3017520" cy="2209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2D4A"/>
                </a:solidFill>
              </a:defRPr>
            </a:pPr>
            <a:r>
              <a:rPr dirty="0"/>
              <a:t>Model behavior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Codex often uses more defensive or generalized structures.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Claude sometimes chooses simpler direct strategies with lower LOC.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dirty="0"/>
              <a:t>Neither pattern is universally better; task structure determines the tradeoff.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464"/>
                </a:solidFill>
              </a:defRPr>
            </a:pPr>
            <a:r>
              <a:t>Bachelor Thesis Defense · Benchmarking LLMs on Algorithmic Programming Tasks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5858"/>
            <a:ext cx="6675120" cy="411480"/>
          </a:xfrm>
          <a:prstGeom prst="rect">
            <a:avLst/>
          </a:prstGeom>
          <a:noFill/>
          <a:ln>
            <a:solidFill>
              <a:srgbClr val="F8F9F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Spikes: Interpretation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51689" y="1920240"/>
            <a:ext cx="5440680" cy="1508760"/>
          </a:xfrm>
          <a:prstGeom prst="rect">
            <a:avLst/>
          </a:prstGeom>
          <a:solidFill>
            <a:srgbClr val="F8E9E6"/>
          </a:solidFill>
          <a:ln w="12700">
            <a:solidFill>
              <a:srgbClr val="E4E9F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D2: candidate universe
</a:t>
            </a:r>
            <a:r>
              <a:rPr lang="en-US" sz="11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Largest spike: Python reaches ~15.5–15.8k; Codex Rust reaches ~2.0k.
• Both models precompute repeated-pattern invalid IDs up to the global maximum.
• Python is much higher because sets, lists and integers have large object overhead.
• Codex stores prefix sums too: more memory, but faster range queries.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99632" y="1920240"/>
            <a:ext cx="5440680" cy="1508760"/>
          </a:xfrm>
          <a:prstGeom prst="rect">
            <a:avLst/>
          </a:prstGeom>
          <a:solidFill>
            <a:srgbClr val="F8E9E6"/>
          </a:solidFill>
          <a:ln w="12700">
            <a:solidFill>
              <a:srgbClr val="E4E9F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D11: memoized graph DP</a:t>
            </a:r>
            <a:r>
              <a:rPr lang="en-US" sz="1400" b="1" dirty="0">
                <a:solidFill>
                  <a:srgbClr val="3D7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1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Rust peak around ~1.27k for both models.
• Extra memory comes from cached path-counting states, not from the graph alone.
• Claude is slightly lighter: numeric node IDs and compact (usize, u8) memo keys.
• Codex is heavier because String-based maps and memo keys keep more structure.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1689" y="3584448"/>
            <a:ext cx="5440680" cy="1508760"/>
          </a:xfrm>
          <a:prstGeom prst="rect">
            <a:avLst/>
          </a:prstGeom>
          <a:solidFill>
            <a:srgbClr val="F8E9E6"/>
          </a:solidFill>
          <a:ln w="12700">
            <a:solidFill>
              <a:srgbClr val="E4E9F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D24: circuit structures</a:t>
            </a:r>
            <a:r>
              <a:rPr lang="en-US" sz="1400" b="1" dirty="0">
                <a:solidFill>
                  <a:srgbClr val="2C67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1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Elevated memory is caused by wire names, gate maps and reverse lookups.
• Rust Codex duplicates structural data: HashMap&lt;String, Gate&gt; plus lookup maps.
• Python versions also keep several maps over wires and consumer relationships.
• This is structural overhead from circuit reasoning, not a failure signal.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99632" y="3584448"/>
            <a:ext cx="5440680" cy="1508760"/>
          </a:xfrm>
          <a:prstGeom prst="rect">
            <a:avLst/>
          </a:prstGeom>
          <a:solidFill>
            <a:srgbClr val="F8E9E6"/>
          </a:solidFill>
          <a:ln w="12700">
            <a:solidFill>
              <a:srgbClr val="E4E9F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D7: cached recursion bump</a:t>
            </a:r>
            <a:r>
              <a:rPr lang="en-US" sz="1400" b="1" dirty="0">
                <a:solidFill>
                  <a:srgbClr val="D97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1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Claude Python has a smaller spike around ~7.9k.
• Reason: padded grid plus recursive @lru_cache over row/column states.
• Codex Python stays lower with iterative DP and width-sized arrays.
• This is a deliberate memory-for-simplicity tradeoff.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10DA2E-2A25-802D-1660-2FD4CDD4415D}"/>
              </a:ext>
            </a:extLst>
          </p:cNvPr>
          <p:cNvSpPr/>
          <p:nvPr/>
        </p:nvSpPr>
        <p:spPr>
          <a:xfrm>
            <a:off x="502920" y="1115750"/>
            <a:ext cx="1828800" cy="41148"/>
          </a:xfrm>
          <a:prstGeom prst="rect">
            <a:avLst/>
          </a:prstGeom>
          <a:solidFill>
            <a:srgbClr val="FF7F0E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906C8-F8E3-B012-B931-C4D7000D7AB9}"/>
              </a:ext>
            </a:extLst>
          </p:cNvPr>
          <p:cNvSpPr txBox="1"/>
          <p:nvPr/>
        </p:nvSpPr>
        <p:spPr>
          <a:xfrm>
            <a:off x="4788108" y="5552030"/>
            <a:ext cx="3078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NOT DONE!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and language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42646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benchmark varies two factors: which LLM generates the code, and which programming language the solution must use.</a:t>
            </a:r>
            <a:endParaRPr lang="en-US" sz="1420" dirty="0"/>
          </a:p>
        </p:txBody>
      </p:sp>
      <p:sp>
        <p:nvSpPr>
          <p:cNvPr id="4" name="Shape 2"/>
          <p:cNvSpPr/>
          <p:nvPr/>
        </p:nvSpPr>
        <p:spPr>
          <a:xfrm>
            <a:off x="512064" y="1225296"/>
            <a:ext cx="1554480" cy="45720"/>
          </a:xfrm>
          <a:prstGeom prst="rect">
            <a:avLst/>
          </a:prstGeom>
          <a:solidFill>
            <a:srgbClr val="B3262A"/>
          </a:solidFill>
          <a:ln w="12700">
            <a:solidFill>
              <a:srgbClr val="B326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12064" y="23774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systems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91072" y="23774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languages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" y="265176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85216" y="2651760"/>
            <a:ext cx="64008" cy="1965960"/>
          </a:xfrm>
          <a:prstGeom prst="rect">
            <a:avLst/>
          </a:prstGeom>
          <a:solidFill>
            <a:srgbClr val="B3262A"/>
          </a:solidFill>
          <a:ln w="12700">
            <a:solidFill>
              <a:srgbClr val="B326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264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326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gpt-5.4 · Codex CLI v0.117.0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360273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complete source files.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with the same task files and prompt template.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Tended to produce direct solutions, but sometimes broader than necessary.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529584" y="2651760"/>
            <a:ext cx="2697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529584" y="2651760"/>
            <a:ext cx="64008" cy="19659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767328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67328" y="3264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Sonnet 4.6 · Claude Code CLI v2.1.91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22192" y="360273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complete programs under identical constraints.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concise and readable.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outliers came from higher constant-factor strategies.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400800" y="2651760"/>
            <a:ext cx="2468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0" y="2651760"/>
            <a:ext cx="64008" cy="19659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638544" y="28529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38544" y="32644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v3.14.2 · interpreted · dynamic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93408" y="360273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baseline with fast generation.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 parsing-heavy tasks and compact logic.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and memory rise when solutions allocate many objects.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07424" y="2651760"/>
            <a:ext cx="2468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107424" y="2651760"/>
            <a:ext cx="64008" cy="196596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345168" y="28529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345168" y="32644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7F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v1.94.1 · compiled · static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00032" y="360273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Stricter type and ownership constraints.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lower runtime and memory usage.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Reveals whether the model can satisfy compiler rules.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" y="664768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Bachelor Thesis Defense · Benchmarking LLMs on Algorithmic Programming Tasks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11649456" y="664768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6–7</a:t>
            </a:r>
            <a:endParaRPr lang="en-US" sz="7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262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rPr dirty="0"/>
              <a:t>Limitations and threats to validity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69653"/>
            <a:ext cx="10058400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dirty="0"/>
              <a:t>The benchmark contains a limited selection of Advent of Code tasks rather than all possible programming tasks.</a:t>
            </a:r>
          </a:p>
          <a:p>
            <a:pPr marL="45720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dirty="0"/>
              <a:t>Prompt wording can influence LLM outputs, even when standardized templates are used.</a:t>
            </a:r>
          </a:p>
          <a:p>
            <a:pPr marL="45720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dirty="0"/>
              <a:t>Models can change over time, so exact results may not be stable across future versions.</a:t>
            </a:r>
          </a:p>
          <a:p>
            <a:pPr marL="45720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dirty="0"/>
              <a:t>Runtime and memory measurements are environment-dependent and can be affected by system noise.</a:t>
            </a:r>
          </a:p>
          <a:p>
            <a:pPr marL="45720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dirty="0"/>
              <a:t>The benchmark focuses on algorithmic problem solving</a:t>
            </a:r>
            <a:r>
              <a:rPr lang="en-GB" dirty="0"/>
              <a:t> for shorter codes</a:t>
            </a:r>
            <a:r>
              <a:rPr dirty="0"/>
              <a:t>, not broader software engineering tasks such as large systems, APIs or UI work.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7899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051560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126206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LLMs can solve the selected </a:t>
            </a:r>
            <a:r>
              <a:rPr dirty="0" err="1"/>
              <a:t>AoC</a:t>
            </a:r>
            <a:r>
              <a:rPr dirty="0"/>
              <a:t> algorithmic tasks correctly in both Python and Rust.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Correctness alone is not enough: runtime, memory and code quality reveal important differences.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Rust generally provides a lower memory footprint and more stable runtime profile.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Python shows larger runtime and memory variability, especially on selected harder cases.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The language choice has a strong effect on measured efficiency; model choice affects outliers more than the overall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t>Answer to the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3"/>
                </a:solidFill>
                <a:latin typeface="Aptos"/>
              </a:defRPr>
            </a:pPr>
            <a:r>
              <a:t>Effectiveness and differences between Python and 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508760" cy="54864"/>
          </a:xfrm>
          <a:prstGeom prst="rect">
            <a:avLst/>
          </a:prstGeom>
          <a:solidFill>
            <a:srgbClr val="A8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  <a:latin typeface="Aptos"/>
              </a:defRPr>
            </a:pPr>
            <a:r>
              <a:t>In this benchmark, both evaluated LLMs were effective at producing functionally correct solutions for the selected Advent of Code 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784080" cy="11430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Aptos"/>
              </a:defRPr>
            </a:pPr>
            <a:r>
              <a:t>The main differences appeared after correctness: Rust solutions used less memory and showed a more compact runtime profile, while Python solutions had higher memory usage and more pronounced runtime spikes.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1800" b="1">
                <a:solidFill>
                  <a:srgbClr val="A82626"/>
                </a:solidFill>
                <a:latin typeface="Aptos"/>
              </a:defRPr>
            </a:pPr>
            <a:r>
              <a:t>Therefore, LLM-generated code should be evaluated not only by whether it works, but also by how efficiently and idiomatically it solves the problem.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54680"/>
            <a:ext cx="99669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defRPr sz="2600" b="0">
                <a:solidFill>
                  <a:srgbClr val="DDE1E7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563"/>
                </a:solidFill>
                <a:latin typeface="Aptos"/>
              </a:defRPr>
            </a:pPr>
            <a:r>
              <a:t>Bachelor Thesis Defense · Benchmarking LLMs on Algorithmic Programming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B5563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2687</Words>
  <Application>Microsoft Office PowerPoint</Application>
  <PresentationFormat>Widescreen</PresentationFormat>
  <Paragraphs>380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Thesis Defense - Benchmarking LLMs on Algorithmic Programming Tasks</dc:title>
  <dc:subject>Thesis defense presentation with benchmark results</dc:subject>
  <dc:creator>Vanessa Kobler</dc:creator>
  <cp:keywords/>
  <dc:description>Generated from uploaded thesis draft and supplied benchmark plots.</dc:description>
  <cp:lastModifiedBy>vanessa kobler</cp:lastModifiedBy>
  <cp:revision>7</cp:revision>
  <dcterms:created xsi:type="dcterms:W3CDTF">2013-01-27T09:14:16Z</dcterms:created>
  <dcterms:modified xsi:type="dcterms:W3CDTF">2026-05-11T20:37:06Z</dcterms:modified>
  <cp:category/>
</cp:coreProperties>
</file>